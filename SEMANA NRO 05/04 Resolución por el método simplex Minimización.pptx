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Lst>
  <p:notesMasterIdLst>
    <p:notesMasterId r:id="rId24"/>
  </p:notesMasterIdLst>
  <p:sldIdLst>
    <p:sldId id="256" r:id="rId2"/>
    <p:sldId id="257" r:id="rId3"/>
    <p:sldId id="589" r:id="rId4"/>
    <p:sldId id="587" r:id="rId5"/>
    <p:sldId id="593" r:id="rId6"/>
    <p:sldId id="282" r:id="rId7"/>
    <p:sldId id="283" r:id="rId8"/>
    <p:sldId id="284" r:id="rId9"/>
    <p:sldId id="285" r:id="rId10"/>
    <p:sldId id="286" r:id="rId11"/>
    <p:sldId id="287" r:id="rId12"/>
    <p:sldId id="288" r:id="rId13"/>
    <p:sldId id="291" r:id="rId14"/>
    <p:sldId id="270" r:id="rId15"/>
    <p:sldId id="269" r:id="rId16"/>
    <p:sldId id="267" r:id="rId17"/>
    <p:sldId id="290" r:id="rId18"/>
    <p:sldId id="594" r:id="rId19"/>
    <p:sldId id="592" r:id="rId20"/>
    <p:sldId id="590" r:id="rId21"/>
    <p:sldId id="260" r:id="rId22"/>
    <p:sldId id="261"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0">
  <p:cSld name="Diapositiva de título 0">
    <p:spTree>
      <p:nvGrpSpPr>
        <p:cNvPr id="1" name="Shape 12"/>
        <p:cNvGrpSpPr/>
        <p:nvPr/>
      </p:nvGrpSpPr>
      <p:grpSpPr>
        <a:xfrm>
          <a:off x="0" y="0"/>
          <a:ext cx="0" cy="0"/>
          <a:chOff x="0" y="0"/>
          <a:chExt cx="0" cy="0"/>
        </a:xfrm>
      </p:grpSpPr>
      <p:pic>
        <p:nvPicPr>
          <p:cNvPr id="13" name="Google Shape;13;p2"/>
          <p:cNvPicPr preferRelativeResize="0"/>
          <p:nvPr/>
        </p:nvPicPr>
        <p:blipFill rotWithShape="1">
          <a:blip r:embed="rId2">
            <a:alphaModFix/>
          </a:blip>
          <a:srcRect/>
          <a:stretch/>
        </p:blipFill>
        <p:spPr>
          <a:xfrm>
            <a:off x="3212592" y="2817845"/>
            <a:ext cx="5766816" cy="12223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bg>
      <p:bgPr>
        <a:gradFill>
          <a:gsLst>
            <a:gs pos="0">
              <a:srgbClr val="0D1033"/>
            </a:gs>
            <a:gs pos="100000">
              <a:srgbClr val="322C6C"/>
            </a:gs>
          </a:gsLst>
          <a:lin ang="5400000" scaled="0"/>
        </a:gra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2375555" y="1715678"/>
            <a:ext cx="9130644" cy="2254510"/>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ubTitle" idx="1"/>
          </p:nvPr>
        </p:nvSpPr>
        <p:spPr>
          <a:xfrm>
            <a:off x="2375554" y="4128940"/>
            <a:ext cx="9130645" cy="1606696"/>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3"/>
          <p:cNvSpPr txBox="1">
            <a:spLocks noGrp="1"/>
          </p:cNvSpPr>
          <p:nvPr>
            <p:ph type="body" idx="2"/>
          </p:nvPr>
        </p:nvSpPr>
        <p:spPr>
          <a:xfrm>
            <a:off x="725488" y="5894388"/>
            <a:ext cx="10780712" cy="341312"/>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lt1"/>
              </a:buClr>
              <a:buSzPts val="1800"/>
              <a:buNone/>
              <a:defRPr sz="1800">
                <a:solidFill>
                  <a:schemeClr val="lt1"/>
                </a:solidFill>
              </a:defRPr>
            </a:lvl1pPr>
            <a:lvl2pPr marL="914400" lvl="1" indent="-228600" algn="r">
              <a:lnSpc>
                <a:spcPct val="90000"/>
              </a:lnSpc>
              <a:spcBef>
                <a:spcPts val="500"/>
              </a:spcBef>
              <a:spcAft>
                <a:spcPts val="0"/>
              </a:spcAft>
              <a:buClr>
                <a:schemeClr val="lt1"/>
              </a:buClr>
              <a:buSzPts val="1600"/>
              <a:buNone/>
              <a:defRPr sz="1600">
                <a:solidFill>
                  <a:schemeClr val="lt1"/>
                </a:solidFill>
              </a:defRPr>
            </a:lvl2pPr>
            <a:lvl3pPr marL="1371600" lvl="2" indent="-228600" algn="r">
              <a:lnSpc>
                <a:spcPct val="90000"/>
              </a:lnSpc>
              <a:spcBef>
                <a:spcPts val="500"/>
              </a:spcBef>
              <a:spcAft>
                <a:spcPts val="0"/>
              </a:spcAft>
              <a:buClr>
                <a:schemeClr val="lt1"/>
              </a:buClr>
              <a:buSzPts val="1400"/>
              <a:buNone/>
              <a:defRPr sz="1400">
                <a:solidFill>
                  <a:schemeClr val="lt1"/>
                </a:solidFill>
              </a:defRPr>
            </a:lvl3pPr>
            <a:lvl4pPr marL="1828800" lvl="3" indent="-228600" algn="r">
              <a:lnSpc>
                <a:spcPct val="90000"/>
              </a:lnSpc>
              <a:spcBef>
                <a:spcPts val="500"/>
              </a:spcBef>
              <a:spcAft>
                <a:spcPts val="0"/>
              </a:spcAft>
              <a:buClr>
                <a:schemeClr val="lt1"/>
              </a:buClr>
              <a:buSzPts val="1200"/>
              <a:buNone/>
              <a:defRPr sz="1200">
                <a:solidFill>
                  <a:schemeClr val="lt1"/>
                </a:solidFill>
              </a:defRPr>
            </a:lvl4pPr>
            <a:lvl5pPr marL="2286000" lvl="4" indent="-228600" algn="r">
              <a:lnSpc>
                <a:spcPct val="90000"/>
              </a:lnSpc>
              <a:spcBef>
                <a:spcPts val="500"/>
              </a:spcBef>
              <a:spcAft>
                <a:spcPts val="0"/>
              </a:spcAft>
              <a:buClr>
                <a:schemeClr val="lt1"/>
              </a:buClr>
              <a:buSzPts val="1300"/>
              <a:buNone/>
              <a:defRPr sz="13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8" name="Google Shape;18;p3"/>
          <p:cNvPicPr preferRelativeResize="0"/>
          <p:nvPr/>
        </p:nvPicPr>
        <p:blipFill rotWithShape="1">
          <a:blip r:embed="rId2">
            <a:alphaModFix/>
          </a:blip>
          <a:srcRect/>
          <a:stretch/>
        </p:blipFill>
        <p:spPr>
          <a:xfrm>
            <a:off x="452846" y="411752"/>
            <a:ext cx="1139825" cy="34131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1974715" y="365126"/>
            <a:ext cx="9379085" cy="7441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body" idx="1"/>
          </p:nvPr>
        </p:nvSpPr>
        <p:spPr>
          <a:xfrm>
            <a:off x="838200" y="1332690"/>
            <a:ext cx="10515600" cy="484427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2" name="Google Shape;22;p4" descr="Imagen que contiene señal&#10;&#10;Descripción generada automáticamente"/>
          <p:cNvPicPr preferRelativeResize="0"/>
          <p:nvPr/>
        </p:nvPicPr>
        <p:blipFill rotWithShape="1">
          <a:blip r:embed="rId2">
            <a:alphaModFix amt="50000"/>
          </a:blip>
          <a:srcRect l="5014" t="22037" r="57674" b="14047"/>
          <a:stretch/>
        </p:blipFill>
        <p:spPr>
          <a:xfrm>
            <a:off x="838200" y="365126"/>
            <a:ext cx="1028700" cy="74416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Pd2">
  <p:cSld name="Título y objetos Pd2">
    <p:bg>
      <p:bgPr>
        <a:solidFill>
          <a:srgbClr val="7601C3">
            <a:alpha val="65882"/>
          </a:srgbClr>
        </a:solidFill>
        <a:effectLst/>
      </p:bgPr>
    </p:bg>
    <p:spTree>
      <p:nvGrpSpPr>
        <p:cNvPr id="1" name="Shape 23"/>
        <p:cNvGrpSpPr/>
        <p:nvPr/>
      </p:nvGrpSpPr>
      <p:grpSpPr>
        <a:xfrm>
          <a:off x="0" y="0"/>
          <a:ext cx="0" cy="0"/>
          <a:chOff x="0" y="0"/>
          <a:chExt cx="0" cy="0"/>
        </a:xfrm>
      </p:grpSpPr>
      <p:pic>
        <p:nvPicPr>
          <p:cNvPr id="24" name="Google Shape;24;p5" descr="Una persona con un traje de color negro&#10;&#10;Descripción generada automáticamente con confianza media"/>
          <p:cNvPicPr preferRelativeResize="0"/>
          <p:nvPr/>
        </p:nvPicPr>
        <p:blipFill rotWithShape="1">
          <a:blip r:embed="rId2">
            <a:alphaModFix/>
          </a:blip>
          <a:srcRect l="1086" r="1086" b="2173"/>
          <a:stretch/>
        </p:blipFill>
        <p:spPr>
          <a:xfrm>
            <a:off x="2" y="0"/>
            <a:ext cx="12191998" cy="6858000"/>
          </a:xfrm>
          <a:prstGeom prst="rect">
            <a:avLst/>
          </a:prstGeom>
          <a:noFill/>
          <a:ln>
            <a:noFill/>
          </a:ln>
        </p:spPr>
      </p:pic>
      <p:sp>
        <p:nvSpPr>
          <p:cNvPr id="25" name="Google Shape;25;p5"/>
          <p:cNvSpPr/>
          <p:nvPr/>
        </p:nvSpPr>
        <p:spPr>
          <a:xfrm>
            <a:off x="-2" y="0"/>
            <a:ext cx="12192000" cy="6858000"/>
          </a:xfrm>
          <a:prstGeom prst="rect">
            <a:avLst/>
          </a:prstGeom>
          <a:solidFill>
            <a:srgbClr val="7601C3">
              <a:alpha val="1765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6" name="Google Shape;26;p5"/>
          <p:cNvSpPr txBox="1">
            <a:spLocks noGrp="1"/>
          </p:cNvSpPr>
          <p:nvPr>
            <p:ph type="title"/>
          </p:nvPr>
        </p:nvSpPr>
        <p:spPr>
          <a:xfrm>
            <a:off x="1974716" y="365126"/>
            <a:ext cx="9379084" cy="74416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Arial"/>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body" idx="1"/>
          </p:nvPr>
        </p:nvSpPr>
        <p:spPr>
          <a:xfrm>
            <a:off x="838200" y="1357744"/>
            <a:ext cx="10515600" cy="4819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lt1"/>
              </a:buClr>
              <a:buSzPts val="2400"/>
              <a:buChar char="•"/>
              <a:defRPr>
                <a:solidFill>
                  <a:schemeClr val="lt1"/>
                </a:solidFill>
              </a:defRPr>
            </a:lvl1pPr>
            <a:lvl2pPr marL="914400" lvl="1" indent="-355600" algn="l">
              <a:lnSpc>
                <a:spcPct val="90000"/>
              </a:lnSpc>
              <a:spcBef>
                <a:spcPts val="500"/>
              </a:spcBef>
              <a:spcAft>
                <a:spcPts val="0"/>
              </a:spcAft>
              <a:buClr>
                <a:schemeClr val="lt1"/>
              </a:buClr>
              <a:buSzPts val="2000"/>
              <a:buChar char="•"/>
              <a:defRPr>
                <a:solidFill>
                  <a:schemeClr val="lt1"/>
                </a:solidFill>
              </a:defRPr>
            </a:lvl2pPr>
            <a:lvl3pPr marL="1371600" lvl="2" indent="-342900" algn="l">
              <a:lnSpc>
                <a:spcPct val="90000"/>
              </a:lnSpc>
              <a:spcBef>
                <a:spcPts val="500"/>
              </a:spcBef>
              <a:spcAft>
                <a:spcPts val="0"/>
              </a:spcAft>
              <a:buClr>
                <a:schemeClr val="lt1"/>
              </a:buClr>
              <a:buSzPts val="1800"/>
              <a:buChar char="•"/>
              <a:defRPr>
                <a:solidFill>
                  <a:schemeClr val="lt1"/>
                </a:solidFill>
              </a:defRPr>
            </a:lvl3pPr>
            <a:lvl4pPr marL="1828800" lvl="3" indent="-330200" algn="l">
              <a:lnSpc>
                <a:spcPct val="90000"/>
              </a:lnSpc>
              <a:spcBef>
                <a:spcPts val="500"/>
              </a:spcBef>
              <a:spcAft>
                <a:spcPts val="0"/>
              </a:spcAft>
              <a:buClr>
                <a:schemeClr val="lt1"/>
              </a:buClr>
              <a:buSzPts val="1600"/>
              <a:buChar char="•"/>
              <a:defRPr>
                <a:solidFill>
                  <a:schemeClr val="lt1"/>
                </a:solidFill>
              </a:defRPr>
            </a:lvl4pPr>
            <a:lvl5pPr marL="2286000" lvl="4" indent="-330200" algn="l">
              <a:lnSpc>
                <a:spcPct val="90000"/>
              </a:lnSpc>
              <a:spcBef>
                <a:spcPts val="500"/>
              </a:spcBef>
              <a:spcAft>
                <a:spcPts val="0"/>
              </a:spcAft>
              <a:buClr>
                <a:schemeClr val="lt1"/>
              </a:buClr>
              <a:buSzPts val="16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8" name="Google Shape;28;p5"/>
          <p:cNvPicPr preferRelativeResize="0"/>
          <p:nvPr/>
        </p:nvPicPr>
        <p:blipFill rotWithShape="1">
          <a:blip r:embed="rId3">
            <a:alphaModFix/>
          </a:blip>
          <a:srcRect/>
          <a:stretch/>
        </p:blipFill>
        <p:spPr>
          <a:xfrm>
            <a:off x="452846" y="452846"/>
            <a:ext cx="1308819" cy="39188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inal2" type="blank">
  <p:cSld name="BLANK">
    <p:bg>
      <p:bgPr>
        <a:solidFill>
          <a:schemeClr val="dk1"/>
        </a:solidFill>
        <a:effectLst/>
      </p:bgPr>
    </p:bg>
    <p:spTree>
      <p:nvGrpSpPr>
        <p:cNvPr id="1" name="Shape 29"/>
        <p:cNvGrpSpPr/>
        <p:nvPr/>
      </p:nvGrpSpPr>
      <p:grpSpPr>
        <a:xfrm>
          <a:off x="0" y="0"/>
          <a:ext cx="0" cy="0"/>
          <a:chOff x="0" y="0"/>
          <a:chExt cx="0" cy="0"/>
        </a:xfrm>
      </p:grpSpPr>
      <p:sp>
        <p:nvSpPr>
          <p:cNvPr id="30" name="Google Shape;30;p6"/>
          <p:cNvSpPr/>
          <p:nvPr/>
        </p:nvSpPr>
        <p:spPr>
          <a:xfrm>
            <a:off x="0" y="6135329"/>
            <a:ext cx="12192000" cy="72267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1" name="Google Shape;31;p6" descr="Imagen que contiene dibujo, señal&#10;&#10;Descripción generada automáticamente"/>
          <p:cNvPicPr preferRelativeResize="0"/>
          <p:nvPr/>
        </p:nvPicPr>
        <p:blipFill rotWithShape="1">
          <a:blip r:embed="rId2">
            <a:alphaModFix/>
          </a:blip>
          <a:srcRect l="4379" t="15900" r="57100" b="15223"/>
          <a:stretch/>
        </p:blipFill>
        <p:spPr>
          <a:xfrm>
            <a:off x="5299803" y="2897164"/>
            <a:ext cx="1484455" cy="1147078"/>
          </a:xfrm>
          <a:prstGeom prst="rect">
            <a:avLst/>
          </a:prstGeom>
          <a:noFill/>
          <a:ln>
            <a:noFill/>
          </a:ln>
        </p:spPr>
      </p:pic>
      <p:grpSp>
        <p:nvGrpSpPr>
          <p:cNvPr id="32" name="Google Shape;32;p6"/>
          <p:cNvGrpSpPr/>
          <p:nvPr/>
        </p:nvGrpSpPr>
        <p:grpSpPr>
          <a:xfrm>
            <a:off x="4358269" y="5057351"/>
            <a:ext cx="3367522" cy="1077978"/>
            <a:chOff x="4412239" y="4728359"/>
            <a:chExt cx="3367522" cy="1077978"/>
          </a:xfrm>
        </p:grpSpPr>
        <p:sp>
          <p:nvSpPr>
            <p:cNvPr id="33" name="Google Shape;33;p6"/>
            <p:cNvSpPr txBox="1"/>
            <p:nvPr/>
          </p:nvSpPr>
          <p:spPr>
            <a:xfrm>
              <a:off x="4412239" y="4728359"/>
              <a:ext cx="3367522" cy="1077978"/>
            </a:xfrm>
            <a:prstGeom prst="rect">
              <a:avLst/>
            </a:prstGeom>
            <a:solidFill>
              <a:schemeClr val="dk1"/>
            </a:solid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000"/>
                <a:buFont typeface="Arial"/>
                <a:buNone/>
              </a:pPr>
              <a:r>
                <a:rPr lang="es-ES" sz="2000" b="0" i="0" u="none" strike="noStrike" cap="none">
                  <a:solidFill>
                    <a:srgbClr val="FFFFFF"/>
                  </a:solidFill>
                  <a:latin typeface="Arial"/>
                  <a:ea typeface="Arial"/>
                  <a:cs typeface="Arial"/>
                  <a:sym typeface="Arial"/>
                </a:rPr>
                <a:t>ucontinental.edu.pe</a:t>
              </a:r>
              <a:endParaRPr sz="1400" b="0" i="0" u="none" strike="noStrike" cap="none">
                <a:solidFill>
                  <a:schemeClr val="dk1"/>
                </a:solidFill>
                <a:latin typeface="Calibri"/>
                <a:ea typeface="Calibri"/>
                <a:cs typeface="Calibri"/>
                <a:sym typeface="Calibri"/>
              </a:endParaRPr>
            </a:p>
            <a:p>
              <a:pPr marL="0" marR="0" lvl="0" indent="0" algn="ctr" rtl="0">
                <a:lnSpc>
                  <a:spcPct val="107000"/>
                </a:lnSpc>
                <a:spcBef>
                  <a:spcPts val="800"/>
                </a:spcBef>
                <a:spcAft>
                  <a:spcPts val="0"/>
                </a:spcAft>
                <a:buClr>
                  <a:srgbClr val="000000"/>
                </a:buClr>
                <a:buSzPts val="1100"/>
                <a:buFont typeface="Arial"/>
                <a:buNone/>
              </a:pPr>
              <a:r>
                <a:rPr lang="es-E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34" name="Google Shape;34;p6"/>
            <p:cNvPicPr preferRelativeResize="0"/>
            <p:nvPr/>
          </p:nvPicPr>
          <p:blipFill rotWithShape="1">
            <a:blip r:embed="rId3">
              <a:alphaModFix/>
            </a:blip>
            <a:srcRect/>
            <a:stretch/>
          </p:blipFill>
          <p:spPr>
            <a:xfrm>
              <a:off x="4901777" y="5207459"/>
              <a:ext cx="359983" cy="360000"/>
            </a:xfrm>
            <a:prstGeom prst="rect">
              <a:avLst/>
            </a:prstGeom>
            <a:noFill/>
            <a:ln>
              <a:noFill/>
            </a:ln>
          </p:spPr>
        </p:pic>
        <p:pic>
          <p:nvPicPr>
            <p:cNvPr id="35" name="Google Shape;35;p6"/>
            <p:cNvPicPr preferRelativeResize="0"/>
            <p:nvPr/>
          </p:nvPicPr>
          <p:blipFill rotWithShape="1">
            <a:blip r:embed="rId4">
              <a:alphaModFix/>
            </a:blip>
            <a:srcRect/>
            <a:stretch/>
          </p:blipFill>
          <p:spPr>
            <a:xfrm>
              <a:off x="6881742" y="5213449"/>
              <a:ext cx="359983" cy="360000"/>
            </a:xfrm>
            <a:prstGeom prst="rect">
              <a:avLst/>
            </a:prstGeom>
            <a:noFill/>
            <a:ln>
              <a:noFill/>
            </a:ln>
          </p:spPr>
        </p:pic>
        <p:pic>
          <p:nvPicPr>
            <p:cNvPr id="36" name="Google Shape;36;p6"/>
            <p:cNvPicPr preferRelativeResize="0"/>
            <p:nvPr/>
          </p:nvPicPr>
          <p:blipFill rotWithShape="1">
            <a:blip r:embed="rId5">
              <a:alphaModFix/>
            </a:blip>
            <a:srcRect/>
            <a:stretch/>
          </p:blipFill>
          <p:spPr>
            <a:xfrm>
              <a:off x="6228238" y="5213449"/>
              <a:ext cx="359983" cy="360000"/>
            </a:xfrm>
            <a:prstGeom prst="rect">
              <a:avLst/>
            </a:prstGeom>
            <a:noFill/>
            <a:ln>
              <a:noFill/>
            </a:ln>
          </p:spPr>
        </p:pic>
        <p:pic>
          <p:nvPicPr>
            <p:cNvPr id="37" name="Google Shape;37;p6"/>
            <p:cNvPicPr preferRelativeResize="0"/>
            <p:nvPr/>
          </p:nvPicPr>
          <p:blipFill rotWithShape="1">
            <a:blip r:embed="rId6">
              <a:alphaModFix/>
            </a:blip>
            <a:srcRect/>
            <a:stretch/>
          </p:blipFill>
          <p:spPr>
            <a:xfrm>
              <a:off x="5543303" y="5219438"/>
              <a:ext cx="359983" cy="36000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2">
  <p:cSld name="Diapositiva de título 2">
    <p:bg>
      <p:bgPr>
        <a:gradFill>
          <a:gsLst>
            <a:gs pos="0">
              <a:srgbClr val="171616"/>
            </a:gs>
            <a:gs pos="100000">
              <a:schemeClr val="dk1"/>
            </a:gs>
          </a:gsLst>
          <a:lin ang="16200000" scaled="0"/>
        </a:gra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ctrTitle"/>
          </p:nvPr>
        </p:nvSpPr>
        <p:spPr>
          <a:xfrm>
            <a:off x="2513339" y="1629482"/>
            <a:ext cx="8993387" cy="23876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 descr="Docente&#10;Asignatura&#10;Semana"/>
          <p:cNvSpPr txBox="1">
            <a:spLocks noGrp="1"/>
          </p:cNvSpPr>
          <p:nvPr>
            <p:ph type="subTitle" idx="1"/>
          </p:nvPr>
        </p:nvSpPr>
        <p:spPr>
          <a:xfrm>
            <a:off x="2513339" y="4117792"/>
            <a:ext cx="8993387" cy="1655762"/>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4" name="Google Shape;44;p8"/>
          <p:cNvPicPr preferRelativeResize="0"/>
          <p:nvPr/>
        </p:nvPicPr>
        <p:blipFill rotWithShape="1">
          <a:blip r:embed="rId2">
            <a:alphaModFix/>
          </a:blip>
          <a:srcRect/>
          <a:stretch/>
        </p:blipFill>
        <p:spPr>
          <a:xfrm>
            <a:off x="452846" y="411752"/>
            <a:ext cx="1139825" cy="341312"/>
          </a:xfrm>
          <a:prstGeom prst="rect">
            <a:avLst/>
          </a:prstGeom>
          <a:noFill/>
          <a:ln>
            <a:noFill/>
          </a:ln>
        </p:spPr>
      </p:pic>
      <p:sp>
        <p:nvSpPr>
          <p:cNvPr id="45" name="Google Shape;45;p8"/>
          <p:cNvSpPr txBox="1">
            <a:spLocks noGrp="1"/>
          </p:cNvSpPr>
          <p:nvPr>
            <p:ph type="body" idx="2"/>
          </p:nvPr>
        </p:nvSpPr>
        <p:spPr>
          <a:xfrm>
            <a:off x="725488" y="5894388"/>
            <a:ext cx="10780712" cy="341312"/>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lt1"/>
              </a:buClr>
              <a:buSzPts val="1800"/>
              <a:buNone/>
              <a:defRPr sz="1800">
                <a:solidFill>
                  <a:schemeClr val="lt1"/>
                </a:solidFill>
              </a:defRPr>
            </a:lvl1pPr>
            <a:lvl2pPr marL="914400" lvl="1" indent="-228600" algn="r">
              <a:lnSpc>
                <a:spcPct val="90000"/>
              </a:lnSpc>
              <a:spcBef>
                <a:spcPts val="500"/>
              </a:spcBef>
              <a:spcAft>
                <a:spcPts val="0"/>
              </a:spcAft>
              <a:buClr>
                <a:schemeClr val="lt1"/>
              </a:buClr>
              <a:buSzPts val="1600"/>
              <a:buNone/>
              <a:defRPr sz="1600">
                <a:solidFill>
                  <a:schemeClr val="lt1"/>
                </a:solidFill>
              </a:defRPr>
            </a:lvl2pPr>
            <a:lvl3pPr marL="1371600" lvl="2" indent="-228600" algn="r">
              <a:lnSpc>
                <a:spcPct val="90000"/>
              </a:lnSpc>
              <a:spcBef>
                <a:spcPts val="500"/>
              </a:spcBef>
              <a:spcAft>
                <a:spcPts val="0"/>
              </a:spcAft>
              <a:buClr>
                <a:schemeClr val="lt1"/>
              </a:buClr>
              <a:buSzPts val="1400"/>
              <a:buNone/>
              <a:defRPr sz="1400">
                <a:solidFill>
                  <a:schemeClr val="lt1"/>
                </a:solidFill>
              </a:defRPr>
            </a:lvl3pPr>
            <a:lvl4pPr marL="1828800" lvl="3" indent="-228600" algn="r">
              <a:lnSpc>
                <a:spcPct val="90000"/>
              </a:lnSpc>
              <a:spcBef>
                <a:spcPts val="500"/>
              </a:spcBef>
              <a:spcAft>
                <a:spcPts val="0"/>
              </a:spcAft>
              <a:buClr>
                <a:schemeClr val="lt1"/>
              </a:buClr>
              <a:buSzPts val="1200"/>
              <a:buNone/>
              <a:defRPr sz="1200">
                <a:solidFill>
                  <a:schemeClr val="lt1"/>
                </a:solidFill>
              </a:defRPr>
            </a:lvl4pPr>
            <a:lvl5pPr marL="2286000" lvl="4" indent="-228600" algn="r">
              <a:lnSpc>
                <a:spcPct val="90000"/>
              </a:lnSpc>
              <a:spcBef>
                <a:spcPts val="500"/>
              </a:spcBef>
              <a:spcAft>
                <a:spcPts val="0"/>
              </a:spcAft>
              <a:buClr>
                <a:schemeClr val="lt1"/>
              </a:buClr>
              <a:buSzPts val="1300"/>
              <a:buNone/>
              <a:defRPr sz="13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apositiva de título 1">
  <p:cSld name="Diapositiva de título 1">
    <p:bg>
      <p:bgPr>
        <a:gradFill>
          <a:gsLst>
            <a:gs pos="0">
              <a:srgbClr val="DA031B"/>
            </a:gs>
            <a:gs pos="100000">
              <a:srgbClr val="5602BD"/>
            </a:gs>
          </a:gsLst>
          <a:lin ang="16200000" scaled="0"/>
        </a:gradFill>
        <a:effectLst/>
      </p:bgPr>
    </p:bg>
    <p:spTree>
      <p:nvGrpSpPr>
        <p:cNvPr id="1" name="Shape 46"/>
        <p:cNvGrpSpPr/>
        <p:nvPr/>
      </p:nvGrpSpPr>
      <p:grpSpPr>
        <a:xfrm>
          <a:off x="0" y="0"/>
          <a:ext cx="0" cy="0"/>
          <a:chOff x="0" y="0"/>
          <a:chExt cx="0" cy="0"/>
        </a:xfrm>
      </p:grpSpPr>
      <p:sp>
        <p:nvSpPr>
          <p:cNvPr id="47" name="Google Shape;47;p9"/>
          <p:cNvSpPr txBox="1">
            <a:spLocks noGrp="1"/>
          </p:cNvSpPr>
          <p:nvPr>
            <p:ph type="ctrTitle"/>
          </p:nvPr>
        </p:nvSpPr>
        <p:spPr>
          <a:xfrm>
            <a:off x="2513339" y="1629482"/>
            <a:ext cx="8993387" cy="23876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9" descr="Docente&#10;Asignatura&#10;Semana"/>
          <p:cNvSpPr txBox="1">
            <a:spLocks noGrp="1"/>
          </p:cNvSpPr>
          <p:nvPr>
            <p:ph type="subTitle" idx="1"/>
          </p:nvPr>
        </p:nvSpPr>
        <p:spPr>
          <a:xfrm>
            <a:off x="2513339" y="4117792"/>
            <a:ext cx="8993387" cy="1655762"/>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9" name="Google Shape;49;p9"/>
          <p:cNvPicPr preferRelativeResize="0"/>
          <p:nvPr/>
        </p:nvPicPr>
        <p:blipFill rotWithShape="1">
          <a:blip r:embed="rId2">
            <a:alphaModFix/>
          </a:blip>
          <a:srcRect/>
          <a:stretch/>
        </p:blipFill>
        <p:spPr>
          <a:xfrm>
            <a:off x="452846" y="411752"/>
            <a:ext cx="1139825" cy="341312"/>
          </a:xfrm>
          <a:prstGeom prst="rect">
            <a:avLst/>
          </a:prstGeom>
          <a:noFill/>
          <a:ln>
            <a:noFill/>
          </a:ln>
        </p:spPr>
      </p:pic>
      <p:sp>
        <p:nvSpPr>
          <p:cNvPr id="50" name="Google Shape;50;p9"/>
          <p:cNvSpPr txBox="1">
            <a:spLocks noGrp="1"/>
          </p:cNvSpPr>
          <p:nvPr>
            <p:ph type="body" idx="2"/>
          </p:nvPr>
        </p:nvSpPr>
        <p:spPr>
          <a:xfrm>
            <a:off x="725488" y="5894388"/>
            <a:ext cx="10780712" cy="341312"/>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lt1"/>
              </a:buClr>
              <a:buSzPts val="1800"/>
              <a:buNone/>
              <a:defRPr sz="1800">
                <a:solidFill>
                  <a:schemeClr val="lt1"/>
                </a:solidFill>
              </a:defRPr>
            </a:lvl1pPr>
            <a:lvl2pPr marL="914400" lvl="1" indent="-228600" algn="r">
              <a:lnSpc>
                <a:spcPct val="90000"/>
              </a:lnSpc>
              <a:spcBef>
                <a:spcPts val="500"/>
              </a:spcBef>
              <a:spcAft>
                <a:spcPts val="0"/>
              </a:spcAft>
              <a:buClr>
                <a:schemeClr val="lt1"/>
              </a:buClr>
              <a:buSzPts val="1600"/>
              <a:buNone/>
              <a:defRPr sz="1600">
                <a:solidFill>
                  <a:schemeClr val="lt1"/>
                </a:solidFill>
              </a:defRPr>
            </a:lvl2pPr>
            <a:lvl3pPr marL="1371600" lvl="2" indent="-228600" algn="r">
              <a:lnSpc>
                <a:spcPct val="90000"/>
              </a:lnSpc>
              <a:spcBef>
                <a:spcPts val="500"/>
              </a:spcBef>
              <a:spcAft>
                <a:spcPts val="0"/>
              </a:spcAft>
              <a:buClr>
                <a:schemeClr val="lt1"/>
              </a:buClr>
              <a:buSzPts val="1400"/>
              <a:buNone/>
              <a:defRPr sz="1400">
                <a:solidFill>
                  <a:schemeClr val="lt1"/>
                </a:solidFill>
              </a:defRPr>
            </a:lvl3pPr>
            <a:lvl4pPr marL="1828800" lvl="3" indent="-228600" algn="r">
              <a:lnSpc>
                <a:spcPct val="90000"/>
              </a:lnSpc>
              <a:spcBef>
                <a:spcPts val="500"/>
              </a:spcBef>
              <a:spcAft>
                <a:spcPts val="0"/>
              </a:spcAft>
              <a:buClr>
                <a:schemeClr val="lt1"/>
              </a:buClr>
              <a:buSzPts val="1200"/>
              <a:buNone/>
              <a:defRPr sz="1200">
                <a:solidFill>
                  <a:schemeClr val="lt1"/>
                </a:solidFill>
              </a:defRPr>
            </a:lvl4pPr>
            <a:lvl5pPr marL="2286000" lvl="4" indent="-228600" algn="r">
              <a:lnSpc>
                <a:spcPct val="90000"/>
              </a:lnSpc>
              <a:spcBef>
                <a:spcPts val="500"/>
              </a:spcBef>
              <a:spcAft>
                <a:spcPts val="0"/>
              </a:spcAft>
              <a:buClr>
                <a:schemeClr val="lt1"/>
              </a:buClr>
              <a:buSzPts val="1300"/>
              <a:buNone/>
              <a:defRPr sz="13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838200" y="1303506"/>
            <a:ext cx="5181600" cy="48734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0"/>
          <p:cNvSpPr txBox="1">
            <a:spLocks noGrp="1"/>
          </p:cNvSpPr>
          <p:nvPr>
            <p:ph type="body" idx="2"/>
          </p:nvPr>
        </p:nvSpPr>
        <p:spPr>
          <a:xfrm>
            <a:off x="6172200" y="1303506"/>
            <a:ext cx="5181600" cy="48734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0"/>
          <p:cNvSpPr txBox="1">
            <a:spLocks noGrp="1"/>
          </p:cNvSpPr>
          <p:nvPr>
            <p:ph type="title"/>
          </p:nvPr>
        </p:nvSpPr>
        <p:spPr>
          <a:xfrm>
            <a:off x="1974715" y="365126"/>
            <a:ext cx="9379085" cy="7441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5" name="Google Shape;55;p10" descr="Imagen que contiene señal&#10;&#10;Descripción generada automáticamente"/>
          <p:cNvPicPr preferRelativeResize="0"/>
          <p:nvPr/>
        </p:nvPicPr>
        <p:blipFill rotWithShape="1">
          <a:blip r:embed="rId2">
            <a:alphaModFix amt="50000"/>
          </a:blip>
          <a:srcRect l="5014" t="22037" r="57674" b="14047"/>
          <a:stretch/>
        </p:blipFill>
        <p:spPr>
          <a:xfrm>
            <a:off x="838200" y="365126"/>
            <a:ext cx="1028700" cy="74416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56"/>
        <p:cNvGrpSpPr/>
        <p:nvPr/>
      </p:nvGrpSpPr>
      <p:grpSpPr>
        <a:xfrm>
          <a:off x="0" y="0"/>
          <a:ext cx="0" cy="0"/>
          <a:chOff x="0" y="0"/>
          <a:chExt cx="0" cy="0"/>
        </a:xfrm>
      </p:grpSpPr>
      <p:sp>
        <p:nvSpPr>
          <p:cNvPr id="57" name="Google Shape;57;p11"/>
          <p:cNvSpPr txBox="1">
            <a:spLocks noGrp="1"/>
          </p:cNvSpPr>
          <p:nvPr>
            <p:ph type="body" idx="1"/>
          </p:nvPr>
        </p:nvSpPr>
        <p:spPr>
          <a:xfrm>
            <a:off x="839788" y="1307086"/>
            <a:ext cx="5157787" cy="85006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600"/>
              <a:buNone/>
              <a:defRPr sz="26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1"/>
          <p:cNvSpPr txBox="1">
            <a:spLocks noGrp="1"/>
          </p:cNvSpPr>
          <p:nvPr>
            <p:ph type="body" idx="2"/>
          </p:nvPr>
        </p:nvSpPr>
        <p:spPr>
          <a:xfrm>
            <a:off x="839788" y="2354944"/>
            <a:ext cx="5157787" cy="383471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1"/>
          <p:cNvSpPr txBox="1">
            <a:spLocks noGrp="1"/>
          </p:cNvSpPr>
          <p:nvPr>
            <p:ph type="body" idx="3"/>
          </p:nvPr>
        </p:nvSpPr>
        <p:spPr>
          <a:xfrm>
            <a:off x="6172200" y="1307086"/>
            <a:ext cx="5183188" cy="85006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600"/>
              <a:buNone/>
              <a:defRPr sz="26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1"/>
          <p:cNvSpPr txBox="1">
            <a:spLocks noGrp="1"/>
          </p:cNvSpPr>
          <p:nvPr>
            <p:ph type="body" idx="4"/>
          </p:nvPr>
        </p:nvSpPr>
        <p:spPr>
          <a:xfrm>
            <a:off x="6172200" y="2354945"/>
            <a:ext cx="5183188" cy="383471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1"/>
          <p:cNvSpPr txBox="1">
            <a:spLocks noGrp="1"/>
          </p:cNvSpPr>
          <p:nvPr>
            <p:ph type="title"/>
          </p:nvPr>
        </p:nvSpPr>
        <p:spPr>
          <a:xfrm>
            <a:off x="1974715" y="365126"/>
            <a:ext cx="9379085" cy="7441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2" name="Google Shape;62;p11" descr="Imagen que contiene señal&#10;&#10;Descripción generada automáticamente"/>
          <p:cNvPicPr preferRelativeResize="0"/>
          <p:nvPr/>
        </p:nvPicPr>
        <p:blipFill rotWithShape="1">
          <a:blip r:embed="rId2">
            <a:alphaModFix amt="50000"/>
          </a:blip>
          <a:srcRect l="5014" t="22037" r="57674" b="14047"/>
          <a:stretch/>
        </p:blipFill>
        <p:spPr>
          <a:xfrm>
            <a:off x="838200" y="365126"/>
            <a:ext cx="1028700" cy="74416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3"/>
          <p:cNvSpPr>
            <a:spLocks noGrp="1"/>
          </p:cNvSpPr>
          <p:nvPr>
            <p:ph type="pic" idx="2"/>
          </p:nvPr>
        </p:nvSpPr>
        <p:spPr>
          <a:xfrm>
            <a:off x="5183188" y="987425"/>
            <a:ext cx="6172200" cy="4873625"/>
          </a:xfrm>
          <a:prstGeom prst="rect">
            <a:avLst/>
          </a:prstGeom>
          <a:noFill/>
          <a:ln>
            <a:noFill/>
          </a:ln>
        </p:spPr>
      </p:sp>
      <p:sp>
        <p:nvSpPr>
          <p:cNvPr id="70" name="Google Shape;70;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p:cSld name="Título y texto vertical">
    <p:spTree>
      <p:nvGrpSpPr>
        <p:cNvPr id="1" name="Shape 71"/>
        <p:cNvGrpSpPr/>
        <p:nvPr/>
      </p:nvGrpSpPr>
      <p:grpSpPr>
        <a:xfrm>
          <a:off x="0" y="0"/>
          <a:ext cx="0" cy="0"/>
          <a:chOff x="0" y="0"/>
          <a:chExt cx="0" cy="0"/>
        </a:xfrm>
      </p:grpSpPr>
      <p:sp>
        <p:nvSpPr>
          <p:cNvPr id="72" name="Google Shape;72;p14"/>
          <p:cNvSpPr txBox="1">
            <a:spLocks noGrp="1"/>
          </p:cNvSpPr>
          <p:nvPr>
            <p:ph type="body" idx="1"/>
          </p:nvPr>
        </p:nvSpPr>
        <p:spPr>
          <a:xfrm rot="5400000">
            <a:off x="3717638" y="-1459199"/>
            <a:ext cx="4756725"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4"/>
          <p:cNvSpPr txBox="1">
            <a:spLocks noGrp="1"/>
          </p:cNvSpPr>
          <p:nvPr>
            <p:ph type="title"/>
          </p:nvPr>
        </p:nvSpPr>
        <p:spPr>
          <a:xfrm>
            <a:off x="1974715" y="365126"/>
            <a:ext cx="9379085" cy="7441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4" name="Google Shape;74;p14" descr="Imagen que contiene señal&#10;&#10;Descripción generada automáticamente"/>
          <p:cNvPicPr preferRelativeResize="0"/>
          <p:nvPr/>
        </p:nvPicPr>
        <p:blipFill rotWithShape="1">
          <a:blip r:embed="rId2">
            <a:alphaModFix amt="50000"/>
          </a:blip>
          <a:srcRect l="5014" t="22037" r="57674" b="14047"/>
          <a:stretch/>
        </p:blipFill>
        <p:spPr>
          <a:xfrm>
            <a:off x="838200" y="365126"/>
            <a:ext cx="1028700" cy="74416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3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bg>
      <p:bgPr>
        <a:gradFill>
          <a:gsLst>
            <a:gs pos="0">
              <a:srgbClr val="171616"/>
            </a:gs>
            <a:gs pos="100000">
              <a:schemeClr val="dk1"/>
            </a:gs>
          </a:gsLst>
          <a:lin ang="16200000" scaled="0"/>
        </a:gradFill>
        <a:effectLst/>
      </p:bgPr>
    </p:bg>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4000"/>
              <a:buFont typeface="Arial"/>
              <a:buNone/>
              <a:defRPr sz="4000" b="1">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D0CECE"/>
              </a:buClr>
              <a:buSzPts val="2400"/>
              <a:buNone/>
              <a:defRPr sz="2400">
                <a:solidFill>
                  <a:srgbClr val="D0CECE"/>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81" name="Google Shape;81;p16" descr="Imagen que contiene dibujo, señal&#10;&#10;Descripción generada automáticamente"/>
          <p:cNvPicPr preferRelativeResize="0"/>
          <p:nvPr/>
        </p:nvPicPr>
        <p:blipFill rotWithShape="1">
          <a:blip r:embed="rId2">
            <a:alphaModFix/>
          </a:blip>
          <a:srcRect l="5410" t="19046" r="57827" b="20492"/>
          <a:stretch/>
        </p:blipFill>
        <p:spPr>
          <a:xfrm>
            <a:off x="5160658" y="1022459"/>
            <a:ext cx="1857983" cy="132058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inal1">
  <p:cSld name="Final1">
    <p:bg>
      <p:bgPr>
        <a:solidFill>
          <a:srgbClr val="FD3D01"/>
        </a:solidFill>
        <a:effectLst/>
      </p:bgPr>
    </p:bg>
    <p:spTree>
      <p:nvGrpSpPr>
        <p:cNvPr id="1" name="Shape 82"/>
        <p:cNvGrpSpPr/>
        <p:nvPr/>
      </p:nvGrpSpPr>
      <p:grpSpPr>
        <a:xfrm>
          <a:off x="0" y="0"/>
          <a:ext cx="0" cy="0"/>
          <a:chOff x="0" y="0"/>
          <a:chExt cx="0" cy="0"/>
        </a:xfrm>
      </p:grpSpPr>
      <p:grpSp>
        <p:nvGrpSpPr>
          <p:cNvPr id="83" name="Google Shape;83;p17"/>
          <p:cNvGrpSpPr/>
          <p:nvPr/>
        </p:nvGrpSpPr>
        <p:grpSpPr>
          <a:xfrm>
            <a:off x="3223049" y="2017310"/>
            <a:ext cx="6825826" cy="2980792"/>
            <a:chOff x="2924561" y="1835485"/>
            <a:chExt cx="6700604" cy="2880962"/>
          </a:xfrm>
        </p:grpSpPr>
        <p:sp>
          <p:nvSpPr>
            <p:cNvPr id="84" name="Google Shape;84;p17"/>
            <p:cNvSpPr txBox="1"/>
            <p:nvPr/>
          </p:nvSpPr>
          <p:spPr>
            <a:xfrm>
              <a:off x="2924561" y="4273686"/>
              <a:ext cx="6700604" cy="44276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400"/>
                <a:buFont typeface="Arial"/>
                <a:buNone/>
              </a:pPr>
              <a:r>
                <a:rPr lang="es-ES" sz="2400" b="0" i="0" u="none" strike="noStrike" cap="none">
                  <a:solidFill>
                    <a:schemeClr val="lt1"/>
                  </a:solidFill>
                  <a:latin typeface="Arial"/>
                  <a:ea typeface="Arial"/>
                  <a:cs typeface="Arial"/>
                  <a:sym typeface="Arial"/>
                </a:rPr>
                <a:t>CREA IMPACTO POSITIVO Y TRASCIENDE</a:t>
              </a:r>
              <a:endParaRPr sz="1400" b="0" i="0" u="none" strike="noStrike" cap="none">
                <a:solidFill>
                  <a:srgbClr val="000000"/>
                </a:solidFill>
                <a:latin typeface="Arial"/>
                <a:ea typeface="Arial"/>
                <a:cs typeface="Arial"/>
                <a:sym typeface="Arial"/>
              </a:endParaRPr>
            </a:p>
          </p:txBody>
        </p:sp>
        <p:pic>
          <p:nvPicPr>
            <p:cNvPr id="85" name="Google Shape;85;p17"/>
            <p:cNvPicPr preferRelativeResize="0"/>
            <p:nvPr/>
          </p:nvPicPr>
          <p:blipFill rotWithShape="1">
            <a:blip r:embed="rId2">
              <a:alphaModFix/>
            </a:blip>
            <a:srcRect/>
            <a:stretch/>
          </p:blipFill>
          <p:spPr>
            <a:xfrm>
              <a:off x="3660667" y="1835485"/>
              <a:ext cx="5228391" cy="2281841"/>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inal_3">
  <p:cSld name="Final_3">
    <p:bg>
      <p:bgPr>
        <a:gradFill>
          <a:gsLst>
            <a:gs pos="0">
              <a:srgbClr val="171616"/>
            </a:gs>
            <a:gs pos="100000">
              <a:schemeClr val="dk1"/>
            </a:gs>
          </a:gsLst>
          <a:lin ang="16200000" scaled="0"/>
        </a:gradFill>
        <a:effectLst/>
      </p:bgPr>
    </p:bg>
    <p:spTree>
      <p:nvGrpSpPr>
        <p:cNvPr id="1" name="Shape 86"/>
        <p:cNvGrpSpPr/>
        <p:nvPr/>
      </p:nvGrpSpPr>
      <p:grpSpPr>
        <a:xfrm>
          <a:off x="0" y="0"/>
          <a:ext cx="0" cy="0"/>
          <a:chOff x="0" y="0"/>
          <a:chExt cx="0" cy="0"/>
        </a:xfrm>
      </p:grpSpPr>
      <p:sp>
        <p:nvSpPr>
          <p:cNvPr id="87" name="Google Shape;87;p18"/>
          <p:cNvSpPr/>
          <p:nvPr/>
        </p:nvSpPr>
        <p:spPr>
          <a:xfrm>
            <a:off x="0" y="0"/>
            <a:ext cx="12192000" cy="6858000"/>
          </a:xfrm>
          <a:prstGeom prst="rect">
            <a:avLst/>
          </a:prstGeom>
          <a:gradFill>
            <a:gsLst>
              <a:gs pos="0">
                <a:srgbClr val="8903A9"/>
              </a:gs>
              <a:gs pos="40000">
                <a:srgbClr val="9703A0"/>
              </a:gs>
              <a:gs pos="71000">
                <a:srgbClr val="B3036F"/>
              </a:gs>
              <a:gs pos="100000">
                <a:srgbClr val="D30329"/>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 name="Google Shape;88;p18"/>
          <p:cNvPicPr preferRelativeResize="0"/>
          <p:nvPr/>
        </p:nvPicPr>
        <p:blipFill rotWithShape="1">
          <a:blip r:embed="rId2">
            <a:alphaModFix/>
          </a:blip>
          <a:srcRect/>
          <a:stretch/>
        </p:blipFill>
        <p:spPr>
          <a:xfrm>
            <a:off x="3925824" y="2029155"/>
            <a:ext cx="4340352" cy="279969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2">
  <p:cSld name="Thank2">
    <p:bg>
      <p:bgPr>
        <a:solidFill>
          <a:schemeClr val="dk1"/>
        </a:solidFill>
        <a:effectLst/>
      </p:bgPr>
    </p:bg>
    <p:spTree>
      <p:nvGrpSpPr>
        <p:cNvPr id="1" name="Shape 89"/>
        <p:cNvGrpSpPr/>
        <p:nvPr/>
      </p:nvGrpSpPr>
      <p:grpSpPr>
        <a:xfrm>
          <a:off x="0" y="0"/>
          <a:ext cx="0" cy="0"/>
          <a:chOff x="0" y="0"/>
          <a:chExt cx="0" cy="0"/>
        </a:xfrm>
      </p:grpSpPr>
      <p:pic>
        <p:nvPicPr>
          <p:cNvPr id="90" name="Google Shape;90;p19"/>
          <p:cNvPicPr preferRelativeResize="0"/>
          <p:nvPr/>
        </p:nvPicPr>
        <p:blipFill rotWithShape="1">
          <a:blip r:embed="rId2">
            <a:alphaModFix/>
          </a:blip>
          <a:srcRect/>
          <a:stretch/>
        </p:blipFill>
        <p:spPr>
          <a:xfrm>
            <a:off x="0" y="-56296"/>
            <a:ext cx="12192002" cy="691429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922386" y="365126"/>
            <a:ext cx="9431414" cy="928654"/>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420238"/>
            <a:ext cx="10515600" cy="4756725"/>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1"/>
          <p:cNvSpPr txBox="1">
            <a:spLocks noGrp="1"/>
          </p:cNvSpPr>
          <p:nvPr>
            <p:ph type="ctrTitle"/>
          </p:nvPr>
        </p:nvSpPr>
        <p:spPr>
          <a:xfrm>
            <a:off x="2375555" y="1715678"/>
            <a:ext cx="9130644" cy="225451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1"/>
              </a:buClr>
              <a:buSzPts val="4400"/>
              <a:buFont typeface="Arial"/>
              <a:buNone/>
            </a:pPr>
            <a:r>
              <a:rPr lang="es-PE" dirty="0"/>
              <a:t>PROGRAMACIÓN LINEAL</a:t>
            </a:r>
            <a:endParaRPr dirty="0"/>
          </a:p>
        </p:txBody>
      </p:sp>
      <p:sp>
        <p:nvSpPr>
          <p:cNvPr id="100" name="Google Shape;100;p21"/>
          <p:cNvSpPr txBox="1">
            <a:spLocks noGrp="1"/>
          </p:cNvSpPr>
          <p:nvPr>
            <p:ph type="subTitle" idx="1"/>
          </p:nvPr>
        </p:nvSpPr>
        <p:spPr>
          <a:xfrm>
            <a:off x="1445342" y="4128940"/>
            <a:ext cx="10060857" cy="1606696"/>
          </a:xfrm>
          <a:prstGeom prst="rect">
            <a:avLst/>
          </a:prstGeom>
          <a:noFill/>
          <a:ln>
            <a:noFill/>
          </a:ln>
        </p:spPr>
        <p:txBody>
          <a:bodyPr spcFirstLastPara="1" wrap="square" lIns="91425" tIns="45700" rIns="91425" bIns="45700" anchor="t" anchorCtr="0">
            <a:normAutofit/>
          </a:bodyPr>
          <a:lstStyle/>
          <a:p>
            <a:pPr marL="457200" lvl="0" indent="-381000" algn="r" rtl="0">
              <a:lnSpc>
                <a:spcPct val="90000"/>
              </a:lnSpc>
              <a:spcBef>
                <a:spcPts val="1000"/>
              </a:spcBef>
              <a:spcAft>
                <a:spcPts val="0"/>
              </a:spcAft>
              <a:buClr>
                <a:schemeClr val="lt1"/>
              </a:buClr>
              <a:buSzPts val="2400"/>
              <a:buNone/>
            </a:pPr>
            <a:r>
              <a:rPr lang="es-PE" dirty="0"/>
              <a:t>Resolución de Modelos de Programación Lineal por el Método Simplex</a:t>
            </a:r>
            <a:endParaRPr dirty="0"/>
          </a:p>
        </p:txBody>
      </p:sp>
      <p:sp>
        <p:nvSpPr>
          <p:cNvPr id="101" name="Google Shape;101;p21"/>
          <p:cNvSpPr txBox="1">
            <a:spLocks noGrp="1"/>
          </p:cNvSpPr>
          <p:nvPr>
            <p:ph type="body" idx="2"/>
          </p:nvPr>
        </p:nvSpPr>
        <p:spPr>
          <a:xfrm>
            <a:off x="725488" y="5894388"/>
            <a:ext cx="10780712" cy="341312"/>
          </a:xfrm>
          <a:prstGeom prst="rect">
            <a:avLst/>
          </a:prstGeom>
          <a:noFill/>
          <a:ln>
            <a:noFill/>
          </a:ln>
        </p:spPr>
        <p:txBody>
          <a:bodyPr spcFirstLastPara="1" wrap="square" lIns="91425" tIns="45700" rIns="91425" bIns="45700" anchor="t" anchorCtr="0">
            <a:noAutofit/>
          </a:bodyPr>
          <a:lstStyle/>
          <a:p>
            <a:pPr marL="457200" lvl="0" indent="-228600" algn="r" rtl="0">
              <a:lnSpc>
                <a:spcPct val="90000"/>
              </a:lnSpc>
              <a:spcBef>
                <a:spcPts val="1000"/>
              </a:spcBef>
              <a:spcAft>
                <a:spcPts val="0"/>
              </a:spcAft>
              <a:buClr>
                <a:schemeClr val="lt1"/>
              </a:buClr>
              <a:buSzPts val="1800"/>
              <a:buNone/>
            </a:pPr>
            <a:r>
              <a:rPr lang="es-PE" dirty="0"/>
              <a:t>Semana Nro. </a:t>
            </a:r>
            <a:r>
              <a:rPr lang="es-PE"/>
              <a:t>05 Sesión 13</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F43A5F2B-BACC-441A-E5FB-725FFD113231}"/>
              </a:ext>
            </a:extLst>
          </p:cNvPr>
          <p:cNvSpPr txBox="1">
            <a:spLocks noChangeArrowheads="1"/>
          </p:cNvSpPr>
          <p:nvPr/>
        </p:nvSpPr>
        <p:spPr bwMode="auto">
          <a:xfrm>
            <a:off x="1003300" y="2484438"/>
            <a:ext cx="9996488" cy="196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es-PE" altLang="es-PE" dirty="0"/>
              <a:t>El propósito de la presente sesión es identificar cómo afectan los cambios en los valores originales de un modelo de programación lineal, en función a estos cambios hallar los resultados.</a:t>
            </a:r>
          </a:p>
        </p:txBody>
      </p:sp>
      <p:sp>
        <p:nvSpPr>
          <p:cNvPr id="6147" name="Shape 123">
            <a:extLst>
              <a:ext uri="{FF2B5EF4-FFF2-40B4-BE49-F238E27FC236}">
                <a16:creationId xmlns:a16="http://schemas.microsoft.com/office/drawing/2014/main" id="{DC222963-06B5-F15A-BDE8-6928F167B4EF}"/>
              </a:ext>
            </a:extLst>
          </p:cNvPr>
          <p:cNvSpPr>
            <a:spLocks noChangeArrowheads="1"/>
          </p:cNvSpPr>
          <p:nvPr/>
        </p:nvSpPr>
        <p:spPr bwMode="auto">
          <a:xfrm>
            <a:off x="2088023" y="345563"/>
            <a:ext cx="49323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dirty="0">
                <a:latin typeface="Neue Plak SemiBold" pitchFamily="34" charset="0"/>
                <a:cs typeface="Neue Plak" pitchFamily="34" charset="0"/>
              </a:rPr>
              <a:t>Propósito de la sesión:</a:t>
            </a:r>
            <a:endParaRPr lang="es-PE" altLang="es-PE" sz="4000" b="1" dirty="0">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0BFEE7B0-A3E5-E890-CC4A-A7C5A0710FA3}"/>
              </a:ext>
            </a:extLst>
          </p:cNvPr>
          <p:cNvSpPr txBox="1"/>
          <p:nvPr/>
        </p:nvSpPr>
        <p:spPr>
          <a:xfrm>
            <a:off x="1003300" y="2484438"/>
            <a:ext cx="10493375" cy="523875"/>
          </a:xfrm>
          <a:prstGeom prst="rect">
            <a:avLst/>
          </a:prstGeom>
          <a:noFill/>
        </p:spPr>
        <p:txBody>
          <a:bodyPr>
            <a:spAutoFit/>
          </a:bodyPr>
          <a:lstStyle/>
          <a:p>
            <a:pPr eaLnBrk="1" fontAlgn="auto" hangingPunct="1">
              <a:spcBef>
                <a:spcPts val="0"/>
              </a:spcBef>
              <a:spcAft>
                <a:spcPts val="0"/>
              </a:spcAft>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Repaso correspondiente al procedimiento simplex de maximización.</a:t>
            </a:r>
            <a:endParaRPr lang="es-PE" sz="4000" dirty="0">
              <a:solidFill>
                <a:schemeClr val="tx1">
                  <a:lumMod val="95000"/>
                  <a:lumOff val="5000"/>
                </a:schemeClr>
              </a:solidFill>
              <a:latin typeface="Neue Plak Light" panose="020B0404030202020204" pitchFamily="34" charset="77"/>
              <a:ea typeface="Neue Plak" charset="0"/>
              <a:cs typeface="Neue Plak" charset="0"/>
            </a:endParaRPr>
          </a:p>
        </p:txBody>
      </p:sp>
      <p:sp>
        <p:nvSpPr>
          <p:cNvPr id="7171" name="Shape 123">
            <a:extLst>
              <a:ext uri="{FF2B5EF4-FFF2-40B4-BE49-F238E27FC236}">
                <a16:creationId xmlns:a16="http://schemas.microsoft.com/office/drawing/2014/main" id="{05924707-D448-B5FB-8C61-0431BB5C8F42}"/>
              </a:ext>
            </a:extLst>
          </p:cNvPr>
          <p:cNvSpPr>
            <a:spLocks noChangeArrowheads="1"/>
          </p:cNvSpPr>
          <p:nvPr/>
        </p:nvSpPr>
        <p:spPr bwMode="auto">
          <a:xfrm>
            <a:off x="1960204" y="306234"/>
            <a:ext cx="49323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dirty="0">
                <a:latin typeface="Neue Plak SemiBold" pitchFamily="34" charset="0"/>
                <a:cs typeface="Neue Plak" pitchFamily="34" charset="0"/>
              </a:rPr>
              <a:t>Actividades de inicio:</a:t>
            </a:r>
            <a:endParaRPr lang="es-PE" altLang="es-PE" sz="4000" b="1" dirty="0">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9E79F09A-1D65-00E2-E695-55210485B3EB}"/>
              </a:ext>
            </a:extLst>
          </p:cNvPr>
          <p:cNvSpPr txBox="1"/>
          <p:nvPr/>
        </p:nvSpPr>
        <p:spPr>
          <a:xfrm>
            <a:off x="1003300" y="2484438"/>
            <a:ext cx="10493375" cy="1815882"/>
          </a:xfrm>
          <a:prstGeom prst="rect">
            <a:avLst/>
          </a:prstGeom>
          <a:noFill/>
        </p:spPr>
        <p:txBody>
          <a:bodyPr>
            <a:spAutoFit/>
          </a:bodyPr>
          <a:lstStyle/>
          <a:p>
            <a:pPr marL="457200" indent="-457200" eaLnBrk="1" fontAlgn="auto" hangingPunct="1">
              <a:spcBef>
                <a:spcPts val="0"/>
              </a:spcBef>
              <a:spcAft>
                <a:spcPts val="0"/>
              </a:spcAft>
              <a:buFont typeface="Arial" panose="020B0604020202020204" pitchFamily="34" charset="0"/>
              <a:buChar char="•"/>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Concepto</a:t>
            </a:r>
          </a:p>
          <a:p>
            <a:pPr marL="457200" indent="-457200" eaLnBrk="1" fontAlgn="auto" hangingPunct="1">
              <a:spcBef>
                <a:spcPts val="0"/>
              </a:spcBef>
              <a:spcAft>
                <a:spcPts val="0"/>
              </a:spcAft>
              <a:buFont typeface="Arial" panose="020B0604020202020204" pitchFamily="34" charset="0"/>
              <a:buChar char="•"/>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Explicación de los valores duales.</a:t>
            </a:r>
          </a:p>
          <a:p>
            <a:pPr marL="457200" indent="-457200" eaLnBrk="1" fontAlgn="auto" hangingPunct="1">
              <a:spcBef>
                <a:spcPts val="0"/>
              </a:spcBef>
              <a:spcAft>
                <a:spcPts val="0"/>
              </a:spcAft>
              <a:buFont typeface="Arial" panose="020B0604020202020204" pitchFamily="34" charset="0"/>
              <a:buChar char="•"/>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Explicación de la variación de los coeficientes de la función objetivo.</a:t>
            </a:r>
          </a:p>
          <a:p>
            <a:pPr marL="457200" indent="-457200" eaLnBrk="1" fontAlgn="auto" hangingPunct="1">
              <a:spcBef>
                <a:spcPts val="0"/>
              </a:spcBef>
              <a:spcAft>
                <a:spcPts val="0"/>
              </a:spcAft>
              <a:buFont typeface="Arial" panose="020B0604020202020204" pitchFamily="34" charset="0"/>
              <a:buChar char="•"/>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Resolución de casos.</a:t>
            </a:r>
          </a:p>
        </p:txBody>
      </p:sp>
      <p:sp>
        <p:nvSpPr>
          <p:cNvPr id="8195" name="Shape 123">
            <a:extLst>
              <a:ext uri="{FF2B5EF4-FFF2-40B4-BE49-F238E27FC236}">
                <a16:creationId xmlns:a16="http://schemas.microsoft.com/office/drawing/2014/main" id="{38E21BEA-8843-76B8-758D-1D96FCE42CC6}"/>
              </a:ext>
            </a:extLst>
          </p:cNvPr>
          <p:cNvSpPr>
            <a:spLocks noChangeArrowheads="1"/>
          </p:cNvSpPr>
          <p:nvPr/>
        </p:nvSpPr>
        <p:spPr bwMode="auto">
          <a:xfrm>
            <a:off x="1989701" y="355395"/>
            <a:ext cx="60071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dirty="0">
                <a:latin typeface="Neue Plak SemiBold" pitchFamily="34" charset="0"/>
                <a:cs typeface="Neue Plak" pitchFamily="34" charset="0"/>
              </a:rPr>
              <a:t>Actividades de desarrollo:</a:t>
            </a:r>
            <a:endParaRPr lang="es-PE" altLang="es-PE" sz="4000" b="1" dirty="0">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Marcador de contenido 2">
            <a:extLst>
              <a:ext uri="{FF2B5EF4-FFF2-40B4-BE49-F238E27FC236}">
                <a16:creationId xmlns:a16="http://schemas.microsoft.com/office/drawing/2014/main" id="{EBD66F95-E865-CA55-4FEE-325243F6D608}"/>
              </a:ext>
            </a:extLst>
          </p:cNvPr>
          <p:cNvSpPr>
            <a:spLocks noGrp="1" noChangeArrowheads="1"/>
          </p:cNvSpPr>
          <p:nvPr>
            <p:ph idx="1"/>
          </p:nvPr>
        </p:nvSpPr>
        <p:spPr/>
        <p:txBody>
          <a:bodyPr/>
          <a:lstStyle/>
          <a:p>
            <a:pPr marL="0" indent="0" algn="just">
              <a:buFont typeface="Arial" panose="020B0604020202020204" pitchFamily="34" charset="0"/>
              <a:buNone/>
            </a:pPr>
            <a:r>
              <a:rPr lang="es-PE" altLang="es-PE"/>
              <a:t>Según Anderson (2011), el análisis de sensibilidad es importante para los tomadores de decisiones debido a que los problemas reales ocurren en un entorno en constante cambio. Los precios de las materias primas, la demanda de productos, las capacidades de producción, los precios de las acciones, todo ello cambia. Si un modelo de programación lineal se utiliza en un entorno como éste, podemos esperar que algunos de los coeﬁcientes del modelo cambien con el tiempo y tal vez queramos determinar cómo afectan estos cambios a la solución óptima. El análisis de sensibilidad proporciona la información necesaria para responder a estos cambios sin requerir una solución radical de un programa lineal modiﬁcado.</a:t>
            </a:r>
          </a:p>
        </p:txBody>
      </p:sp>
      <p:sp>
        <p:nvSpPr>
          <p:cNvPr id="9219" name="1 Título">
            <a:extLst>
              <a:ext uri="{FF2B5EF4-FFF2-40B4-BE49-F238E27FC236}">
                <a16:creationId xmlns:a16="http://schemas.microsoft.com/office/drawing/2014/main" id="{DBCD8297-70C9-BA98-4AD3-87D163B29FA8}"/>
              </a:ext>
            </a:extLst>
          </p:cNvPr>
          <p:cNvSpPr>
            <a:spLocks noGrp="1" noChangeArrowheads="1"/>
          </p:cNvSpPr>
          <p:nvPr>
            <p:ph type="title"/>
          </p:nvPr>
        </p:nvSpPr>
        <p:spPr>
          <a:xfrm>
            <a:off x="2198688" y="365125"/>
            <a:ext cx="9155112" cy="1063625"/>
          </a:xfrm>
        </p:spPr>
        <p:txBody>
          <a:bodyPr/>
          <a:lstStyle/>
          <a:p>
            <a:r>
              <a:rPr lang="es-PE" altLang="es-PE"/>
              <a:t>ANÁLISIS DE SENSIBILIDAD</a:t>
            </a:r>
          </a:p>
        </p:txBody>
      </p:sp>
      <p:sp>
        <p:nvSpPr>
          <p:cNvPr id="9220" name="3 Marcador de número de diapositiva">
            <a:extLst>
              <a:ext uri="{FF2B5EF4-FFF2-40B4-BE49-F238E27FC236}">
                <a16:creationId xmlns:a16="http://schemas.microsoft.com/office/drawing/2014/main" id="{FCD049D2-632B-FE1A-6A29-DF2AC8265F96}"/>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6</a:t>
            </a:fld>
            <a:endParaRPr lang="es-PE" altLang="es-PE"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5C21554E-79E1-B9E4-46A0-D28056065EC8}"/>
              </a:ext>
            </a:extLst>
          </p:cNvPr>
          <p:cNvSpPr>
            <a:spLocks noGrp="1"/>
          </p:cNvSpPr>
          <p:nvPr>
            <p:ph idx="1"/>
          </p:nvPr>
        </p:nvSpPr>
        <p:spPr/>
        <p:txBody>
          <a:bodyPr/>
          <a:lstStyle/>
          <a:p>
            <a:pPr>
              <a:defRPr/>
            </a:pPr>
            <a:r>
              <a:rPr lang="es-PE" dirty="0"/>
              <a:t>Cambios en el lado derecho de la restricción (Recursos) : Factibilidad</a:t>
            </a:r>
          </a:p>
          <a:p>
            <a:pPr marL="0" indent="0">
              <a:buFont typeface="Arial" panose="020B0604020202020204" pitchFamily="34" charset="0"/>
              <a:buNone/>
              <a:defRPr/>
            </a:pPr>
            <a:r>
              <a:rPr lang="es-PE" dirty="0"/>
              <a:t>Variación del valor de los recursos ↑↓ conservando los valores duales constante.</a:t>
            </a:r>
          </a:p>
          <a:p>
            <a:pPr marL="0" indent="0">
              <a:buFont typeface="Arial" panose="020B0604020202020204" pitchFamily="34" charset="0"/>
              <a:buNone/>
              <a:defRPr/>
            </a:pPr>
            <a:endParaRPr lang="es-PE" dirty="0"/>
          </a:p>
          <a:p>
            <a:pPr algn="just">
              <a:defRPr/>
            </a:pPr>
            <a:r>
              <a:rPr lang="es-PE" dirty="0"/>
              <a:t>Cambios en los coeficientes de la función objetivo (Ganancias, beneficios, costos, </a:t>
            </a:r>
            <a:r>
              <a:rPr lang="es-PE" dirty="0" err="1"/>
              <a:t>etc</a:t>
            </a:r>
            <a:r>
              <a:rPr lang="es-PE" dirty="0"/>
              <a:t>): (optimalidad)</a:t>
            </a:r>
          </a:p>
          <a:p>
            <a:pPr marL="0" indent="0" algn="just">
              <a:buFont typeface="Arial" panose="020B0604020202020204" pitchFamily="34" charset="0"/>
              <a:buNone/>
              <a:defRPr/>
            </a:pPr>
            <a:r>
              <a:rPr lang="es-PE" dirty="0"/>
              <a:t>Variación de los coeficientes de la F.O.↑↓ conservando los valores del punto óptimo constante (nivel de producción, </a:t>
            </a:r>
            <a:r>
              <a:rPr lang="es-PE" dirty="0" err="1"/>
              <a:t>etc</a:t>
            </a:r>
            <a:r>
              <a:rPr lang="es-PE" dirty="0"/>
              <a:t>)</a:t>
            </a:r>
          </a:p>
          <a:p>
            <a:pPr>
              <a:defRPr/>
            </a:pPr>
            <a:endParaRPr lang="es-PE" dirty="0"/>
          </a:p>
        </p:txBody>
      </p:sp>
      <p:sp>
        <p:nvSpPr>
          <p:cNvPr id="10243" name="Título 2">
            <a:extLst>
              <a:ext uri="{FF2B5EF4-FFF2-40B4-BE49-F238E27FC236}">
                <a16:creationId xmlns:a16="http://schemas.microsoft.com/office/drawing/2014/main" id="{BD653698-B3B1-1386-288A-8B353F5CFF24}"/>
              </a:ext>
            </a:extLst>
          </p:cNvPr>
          <p:cNvSpPr>
            <a:spLocks noGrp="1" noChangeArrowheads="1"/>
          </p:cNvSpPr>
          <p:nvPr>
            <p:ph type="title"/>
          </p:nvPr>
        </p:nvSpPr>
        <p:spPr>
          <a:xfrm>
            <a:off x="2465388" y="365125"/>
            <a:ext cx="8888412" cy="1025525"/>
          </a:xfrm>
        </p:spPr>
        <p:txBody>
          <a:bodyPr/>
          <a:lstStyle/>
          <a:p>
            <a:r>
              <a:rPr lang="es-PE" altLang="es-PE"/>
              <a:t>Cambios: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Marcador de contenido 5">
            <a:extLst>
              <a:ext uri="{FF2B5EF4-FFF2-40B4-BE49-F238E27FC236}">
                <a16:creationId xmlns:a16="http://schemas.microsoft.com/office/drawing/2014/main" id="{5CFD49D2-8BE9-08A2-D4ED-B8EED61905AF}"/>
              </a:ext>
            </a:extLst>
          </p:cNvPr>
          <p:cNvSpPr>
            <a:spLocks noGrp="1" noChangeArrowheads="1"/>
          </p:cNvSpPr>
          <p:nvPr>
            <p:ph idx="1"/>
          </p:nvPr>
        </p:nvSpPr>
        <p:spPr>
          <a:xfrm>
            <a:off x="1981200" y="1412875"/>
            <a:ext cx="8229600" cy="4713288"/>
          </a:xfrm>
        </p:spPr>
        <p:txBody>
          <a:bodyPr/>
          <a:lstStyle/>
          <a:p>
            <a:pPr marL="0" indent="0" algn="just">
              <a:buFont typeface="Arial" panose="020B0604020202020204" pitchFamily="34" charset="0"/>
              <a:buNone/>
            </a:pPr>
            <a:r>
              <a:rPr lang="es-ES" altLang="es-PE"/>
              <a:t>Con el comienzo del curso se va a lanzar unas ofertas de material escolar. Unos almacenes quieren ofrecer 600 cuadernos, 225 fólderes y 400 lapiceros para la oferta, empaquetándolo de dos formas distintas; en el paquete tipo A pondrá 2 cuadernos, 1 folder y 2 lapiceros; en el paquete tipo B, pondrá 3 cuadernos, 1 folder y 1 lapicero. Las ganancias con cada paquete serán 13 y 14 euros, respectivamente. ¿Cuántos paquetes le conviene poner de cada tipo para obtener el máximo beneficio?</a:t>
            </a:r>
            <a:endParaRPr lang="es-PE" altLang="es-PE"/>
          </a:p>
        </p:txBody>
      </p:sp>
      <p:sp>
        <p:nvSpPr>
          <p:cNvPr id="2" name="1 Título">
            <a:extLst>
              <a:ext uri="{FF2B5EF4-FFF2-40B4-BE49-F238E27FC236}">
                <a16:creationId xmlns:a16="http://schemas.microsoft.com/office/drawing/2014/main" id="{A7FC7A36-22BC-3FBA-5E14-3EE9EDEB76D4}"/>
              </a:ext>
            </a:extLst>
          </p:cNvPr>
          <p:cNvSpPr>
            <a:spLocks noGrp="1"/>
          </p:cNvSpPr>
          <p:nvPr>
            <p:ph type="title"/>
          </p:nvPr>
        </p:nvSpPr>
        <p:spPr>
          <a:xfrm>
            <a:off x="1981200" y="595313"/>
            <a:ext cx="8229600" cy="566737"/>
          </a:xfrm>
        </p:spPr>
        <p:txBody>
          <a:bodyPr>
            <a:normAutofit/>
          </a:bodyPr>
          <a:lstStyle/>
          <a:p>
            <a:pPr>
              <a:defRPr/>
            </a:pPr>
            <a:r>
              <a:rPr lang="es-PE" dirty="0"/>
              <a:t>Ejemplo de aplicación:</a:t>
            </a:r>
          </a:p>
        </p:txBody>
      </p:sp>
      <p:sp>
        <p:nvSpPr>
          <p:cNvPr id="11268" name="3 Marcador de número de diapositiva">
            <a:extLst>
              <a:ext uri="{FF2B5EF4-FFF2-40B4-BE49-F238E27FC236}">
                <a16:creationId xmlns:a16="http://schemas.microsoft.com/office/drawing/2014/main" id="{29D54D84-C0AC-DAAF-F7BC-88964B895F31}"/>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8</a:t>
            </a:fld>
            <a:endParaRPr lang="es-PE" altLang="es-PE" sz="120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Marcador de contenido 2">
            <a:extLst>
              <a:ext uri="{FF2B5EF4-FFF2-40B4-BE49-F238E27FC236}">
                <a16:creationId xmlns:a16="http://schemas.microsoft.com/office/drawing/2014/main" id="{0F143F91-B6F9-AF46-0F4D-8A10C6C3F099}"/>
              </a:ext>
            </a:extLst>
          </p:cNvPr>
          <p:cNvSpPr>
            <a:spLocks noGrp="1" noChangeArrowheads="1"/>
          </p:cNvSpPr>
          <p:nvPr>
            <p:ph idx="1"/>
          </p:nvPr>
        </p:nvSpPr>
        <p:spPr>
          <a:xfrm>
            <a:off x="1981200" y="981075"/>
            <a:ext cx="8229600" cy="5145088"/>
          </a:xfrm>
        </p:spPr>
        <p:txBody>
          <a:bodyPr/>
          <a:lstStyle/>
          <a:p>
            <a:pPr marL="0" indent="0">
              <a:buFont typeface="Arial" panose="020B0604020202020204" pitchFamily="34" charset="0"/>
              <a:buNone/>
            </a:pPr>
            <a:r>
              <a:rPr lang="es-ES" altLang="es-PE"/>
              <a:t>X</a:t>
            </a:r>
            <a:r>
              <a:rPr lang="es-ES" altLang="es-PE" baseline="-25000"/>
              <a:t>1</a:t>
            </a:r>
            <a:r>
              <a:rPr lang="es-ES" altLang="es-PE"/>
              <a:t> : número de paquetes del tipo A</a:t>
            </a:r>
          </a:p>
          <a:p>
            <a:pPr marL="0" indent="0">
              <a:buFont typeface="Arial" panose="020B0604020202020204" pitchFamily="34" charset="0"/>
              <a:buNone/>
            </a:pPr>
            <a:r>
              <a:rPr lang="es-ES" altLang="es-PE"/>
              <a:t>X</a:t>
            </a:r>
            <a:r>
              <a:rPr lang="es-ES" altLang="es-PE" baseline="-25000"/>
              <a:t>2 </a:t>
            </a:r>
            <a:r>
              <a:rPr lang="es-ES" altLang="es-PE"/>
              <a:t>: número de paquetes del tipo B</a:t>
            </a:r>
            <a:endParaRPr lang="es-PE" altLang="es-PE"/>
          </a:p>
          <a:p>
            <a:pPr marL="0" indent="0">
              <a:buFont typeface="Arial" panose="020B0604020202020204" pitchFamily="34" charset="0"/>
              <a:buNone/>
            </a:pPr>
            <a:endParaRPr lang="es-ES" altLang="es-PE"/>
          </a:p>
          <a:p>
            <a:pPr marL="0" indent="0">
              <a:buFont typeface="Arial" panose="020B0604020202020204" pitchFamily="34" charset="0"/>
              <a:buNone/>
            </a:pPr>
            <a:r>
              <a:rPr lang="es-ES" altLang="es-PE"/>
              <a:t>Max Z = 13 X</a:t>
            </a:r>
            <a:r>
              <a:rPr lang="es-ES" altLang="es-PE" baseline="-25000"/>
              <a:t>1</a:t>
            </a:r>
            <a:r>
              <a:rPr lang="es-ES" altLang="es-PE"/>
              <a:t> + 14 X</a:t>
            </a:r>
            <a:r>
              <a:rPr lang="es-ES" altLang="es-PE" baseline="-25000"/>
              <a:t>2</a:t>
            </a:r>
            <a:endParaRPr lang="es-PE" altLang="es-PE"/>
          </a:p>
          <a:p>
            <a:pPr marL="0" indent="0">
              <a:buFont typeface="Arial" panose="020B0604020202020204" pitchFamily="34" charset="0"/>
              <a:buNone/>
            </a:pPr>
            <a:r>
              <a:rPr lang="es-ES" altLang="es-PE"/>
              <a:t>     s.a:</a:t>
            </a:r>
            <a:endParaRPr lang="es-PE" altLang="es-PE"/>
          </a:p>
          <a:p>
            <a:pPr marL="0" indent="0">
              <a:buFont typeface="Arial" panose="020B0604020202020204" pitchFamily="34" charset="0"/>
              <a:buNone/>
            </a:pPr>
            <a:r>
              <a:rPr lang="es-ES" altLang="es-PE"/>
              <a:t>            2X</a:t>
            </a:r>
            <a:r>
              <a:rPr lang="es-ES" altLang="es-PE" baseline="-25000"/>
              <a:t>1</a:t>
            </a:r>
            <a:r>
              <a:rPr lang="es-ES" altLang="es-PE"/>
              <a:t> + 3X</a:t>
            </a:r>
            <a:r>
              <a:rPr lang="es-ES" altLang="es-PE" baseline="-25000"/>
              <a:t>2</a:t>
            </a:r>
            <a:r>
              <a:rPr lang="es-ES" altLang="es-PE"/>
              <a:t>   ≤ 600        (cuadernos)</a:t>
            </a:r>
            <a:endParaRPr lang="es-PE" altLang="es-PE"/>
          </a:p>
          <a:p>
            <a:pPr marL="0" indent="0">
              <a:buFont typeface="Arial" panose="020B0604020202020204" pitchFamily="34" charset="0"/>
              <a:buNone/>
            </a:pPr>
            <a:r>
              <a:rPr lang="es-ES" altLang="es-PE"/>
              <a:t>            1X</a:t>
            </a:r>
            <a:r>
              <a:rPr lang="es-ES" altLang="es-PE" baseline="-25000"/>
              <a:t>1</a:t>
            </a:r>
            <a:r>
              <a:rPr lang="es-ES" altLang="es-PE"/>
              <a:t> + 1X</a:t>
            </a:r>
            <a:r>
              <a:rPr lang="es-ES" altLang="es-PE" baseline="-25000"/>
              <a:t>2</a:t>
            </a:r>
            <a:r>
              <a:rPr lang="es-ES" altLang="es-PE"/>
              <a:t>  ≤ 225         (fólderes)</a:t>
            </a:r>
          </a:p>
          <a:p>
            <a:pPr marL="0" indent="0">
              <a:buFont typeface="Arial" panose="020B0604020202020204" pitchFamily="34" charset="0"/>
              <a:buNone/>
            </a:pPr>
            <a:r>
              <a:rPr lang="es-ES" altLang="es-PE"/>
              <a:t>             2X</a:t>
            </a:r>
            <a:r>
              <a:rPr lang="es-ES" altLang="es-PE" baseline="-25000"/>
              <a:t>1</a:t>
            </a:r>
            <a:r>
              <a:rPr lang="es-ES" altLang="es-PE"/>
              <a:t> + 1X</a:t>
            </a:r>
            <a:r>
              <a:rPr lang="es-ES" altLang="es-PE" baseline="-25000"/>
              <a:t>2</a:t>
            </a:r>
            <a:r>
              <a:rPr lang="es-ES" altLang="es-PE"/>
              <a:t>  ≤ 400        (lapiceros)</a:t>
            </a:r>
            <a:endParaRPr lang="es-PE" altLang="es-PE"/>
          </a:p>
          <a:p>
            <a:pPr marL="0" indent="0">
              <a:buFont typeface="Arial" panose="020B0604020202020204" pitchFamily="34" charset="0"/>
              <a:buNone/>
            </a:pPr>
            <a:r>
              <a:rPr lang="es-ES" altLang="es-PE"/>
              <a:t>              X</a:t>
            </a:r>
            <a:r>
              <a:rPr lang="es-ES" altLang="es-PE" baseline="-25000"/>
              <a:t>1</a:t>
            </a:r>
            <a:r>
              <a:rPr lang="es-ES" altLang="es-PE"/>
              <a:t> ;       X</a:t>
            </a:r>
            <a:r>
              <a:rPr lang="es-ES" altLang="es-PE" baseline="-25000"/>
              <a:t>2</a:t>
            </a:r>
            <a:r>
              <a:rPr lang="es-ES" altLang="es-PE"/>
              <a:t>  ≥ 0</a:t>
            </a:r>
            <a:endParaRPr lang="es-PE" altLang="es-PE"/>
          </a:p>
          <a:p>
            <a:pPr marL="0" indent="0">
              <a:buFont typeface="Arial" panose="020B0604020202020204" pitchFamily="34" charset="0"/>
              <a:buNone/>
            </a:pPr>
            <a:endParaRPr lang="es-PE" altLang="es-PE"/>
          </a:p>
        </p:txBody>
      </p:sp>
      <p:sp>
        <p:nvSpPr>
          <p:cNvPr id="12291" name="Marcador de número de diapositiva 3">
            <a:extLst>
              <a:ext uri="{FF2B5EF4-FFF2-40B4-BE49-F238E27FC236}">
                <a16:creationId xmlns:a16="http://schemas.microsoft.com/office/drawing/2014/main" id="{7D2585B8-5E0C-FBF8-85F1-1168F262471E}"/>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9</a:t>
            </a:fld>
            <a:endParaRPr lang="es-PE" altLang="es-PE"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9E846D6-C475-EE3B-8378-E67DB1A61014}"/>
              </a:ext>
            </a:extLst>
          </p:cNvPr>
          <p:cNvSpPr>
            <a:spLocks noGrp="1"/>
          </p:cNvSpPr>
          <p:nvPr>
            <p:ph idx="1"/>
          </p:nvPr>
        </p:nvSpPr>
        <p:spPr>
          <a:xfrm>
            <a:off x="1981200" y="966788"/>
            <a:ext cx="8229600" cy="4630737"/>
          </a:xfrm>
        </p:spPr>
        <p:txBody>
          <a:bodyPr/>
          <a:lstStyle/>
          <a:p>
            <a:pPr marL="0" indent="0">
              <a:buFont typeface="Arial" panose="020B0604020202020204" pitchFamily="34" charset="0"/>
              <a:buNone/>
              <a:defRPr/>
            </a:pPr>
            <a:r>
              <a:rPr lang="es-ES" sz="2000" dirty="0"/>
              <a:t>Max Z = 13X</a:t>
            </a:r>
            <a:r>
              <a:rPr lang="es-ES" sz="2000" baseline="-25000" dirty="0"/>
              <a:t>1</a:t>
            </a:r>
            <a:r>
              <a:rPr lang="es-ES" sz="2000" dirty="0"/>
              <a:t> + 14X</a:t>
            </a:r>
            <a:r>
              <a:rPr lang="es-ES" sz="2000" baseline="-25000" dirty="0"/>
              <a:t>2 </a:t>
            </a:r>
            <a:r>
              <a:rPr lang="es-ES" sz="2000" dirty="0">
                <a:solidFill>
                  <a:srgbClr val="FF0000"/>
                </a:solidFill>
              </a:rPr>
              <a:t>+ 0S</a:t>
            </a:r>
            <a:r>
              <a:rPr lang="es-ES" sz="2000" baseline="-25000" dirty="0">
                <a:solidFill>
                  <a:srgbClr val="FF0000"/>
                </a:solidFill>
              </a:rPr>
              <a:t>1 </a:t>
            </a:r>
            <a:r>
              <a:rPr lang="es-ES" sz="2000" dirty="0">
                <a:solidFill>
                  <a:srgbClr val="FF0000"/>
                </a:solidFill>
              </a:rPr>
              <a:t>+ 0S</a:t>
            </a:r>
            <a:r>
              <a:rPr lang="es-ES" sz="2000" baseline="-25000" dirty="0">
                <a:solidFill>
                  <a:srgbClr val="FF0000"/>
                </a:solidFill>
              </a:rPr>
              <a:t>2 </a:t>
            </a:r>
            <a:r>
              <a:rPr lang="es-ES" sz="2000" dirty="0">
                <a:solidFill>
                  <a:srgbClr val="FF0000"/>
                </a:solidFill>
              </a:rPr>
              <a:t>+0S</a:t>
            </a:r>
            <a:r>
              <a:rPr lang="es-ES" sz="2000" baseline="-25000" dirty="0">
                <a:solidFill>
                  <a:srgbClr val="FF0000"/>
                </a:solidFill>
              </a:rPr>
              <a:t>3 </a:t>
            </a:r>
            <a:endParaRPr lang="es-PE" sz="2000" dirty="0">
              <a:solidFill>
                <a:srgbClr val="FF0000"/>
              </a:solidFill>
            </a:endParaRPr>
          </a:p>
          <a:p>
            <a:pPr marL="0" indent="0">
              <a:buFont typeface="Arial" panose="020B0604020202020204" pitchFamily="34" charset="0"/>
              <a:buNone/>
              <a:defRPr/>
            </a:pPr>
            <a:r>
              <a:rPr lang="es-ES" sz="2000" dirty="0"/>
              <a:t>     </a:t>
            </a:r>
            <a:r>
              <a:rPr lang="es-ES" sz="2000" dirty="0" err="1"/>
              <a:t>s.a</a:t>
            </a:r>
            <a:r>
              <a:rPr lang="es-ES" sz="2000" dirty="0"/>
              <a:t>:</a:t>
            </a:r>
            <a:endParaRPr lang="es-PE" sz="2000" dirty="0"/>
          </a:p>
          <a:p>
            <a:pPr marL="0" indent="0">
              <a:buFont typeface="Arial" panose="020B0604020202020204" pitchFamily="34" charset="0"/>
              <a:buNone/>
              <a:defRPr/>
            </a:pPr>
            <a:r>
              <a:rPr lang="es-ES" sz="2000" dirty="0"/>
              <a:t>            2X</a:t>
            </a:r>
            <a:r>
              <a:rPr lang="es-ES" sz="2000" baseline="-25000" dirty="0"/>
              <a:t>1</a:t>
            </a:r>
            <a:r>
              <a:rPr lang="es-ES" sz="2000" dirty="0"/>
              <a:t> + 3X</a:t>
            </a:r>
            <a:r>
              <a:rPr lang="es-ES" sz="2000" baseline="-25000" dirty="0"/>
              <a:t>2</a:t>
            </a:r>
            <a:r>
              <a:rPr lang="es-ES" sz="2000" dirty="0"/>
              <a:t>   </a:t>
            </a:r>
            <a:r>
              <a:rPr lang="es-ES" sz="2000" dirty="0">
                <a:solidFill>
                  <a:srgbClr val="FF0000"/>
                </a:solidFill>
              </a:rPr>
              <a:t>+ S</a:t>
            </a:r>
            <a:r>
              <a:rPr lang="es-ES" sz="2000" baseline="-25000" dirty="0">
                <a:solidFill>
                  <a:srgbClr val="FF0000"/>
                </a:solidFill>
              </a:rPr>
              <a:t>1</a:t>
            </a:r>
            <a:r>
              <a:rPr lang="es-ES" sz="2000" dirty="0">
                <a:solidFill>
                  <a:srgbClr val="FF0000"/>
                </a:solidFill>
              </a:rPr>
              <a:t>                  </a:t>
            </a:r>
            <a:r>
              <a:rPr lang="es-ES" sz="2000" dirty="0"/>
              <a:t>= 600 </a:t>
            </a:r>
            <a:endParaRPr lang="es-PE" sz="2000" dirty="0"/>
          </a:p>
          <a:p>
            <a:pPr marL="0" indent="0">
              <a:buFont typeface="Arial" panose="020B0604020202020204" pitchFamily="34" charset="0"/>
              <a:buNone/>
              <a:defRPr/>
            </a:pPr>
            <a:r>
              <a:rPr lang="es-ES" sz="2000" dirty="0"/>
              <a:t>            1X</a:t>
            </a:r>
            <a:r>
              <a:rPr lang="es-ES" sz="2000" baseline="-25000" dirty="0"/>
              <a:t>1</a:t>
            </a:r>
            <a:r>
              <a:rPr lang="es-ES" sz="2000" dirty="0"/>
              <a:t> + 1X</a:t>
            </a:r>
            <a:r>
              <a:rPr lang="es-ES" sz="2000" baseline="-25000" dirty="0"/>
              <a:t>2</a:t>
            </a:r>
            <a:r>
              <a:rPr lang="es-ES" sz="2000" dirty="0"/>
              <a:t>            </a:t>
            </a:r>
            <a:r>
              <a:rPr lang="es-ES" sz="2000" dirty="0">
                <a:solidFill>
                  <a:srgbClr val="FF0000"/>
                </a:solidFill>
              </a:rPr>
              <a:t>+ S</a:t>
            </a:r>
            <a:r>
              <a:rPr lang="es-ES" sz="2000" baseline="-25000" dirty="0">
                <a:solidFill>
                  <a:srgbClr val="FF0000"/>
                </a:solidFill>
              </a:rPr>
              <a:t>2</a:t>
            </a:r>
            <a:r>
              <a:rPr lang="es-ES" sz="2000" dirty="0">
                <a:solidFill>
                  <a:srgbClr val="FF0000"/>
                </a:solidFill>
              </a:rPr>
              <a:t>         </a:t>
            </a:r>
            <a:r>
              <a:rPr lang="es-ES" sz="2000" dirty="0"/>
              <a:t>= 225</a:t>
            </a:r>
          </a:p>
          <a:p>
            <a:pPr marL="0" indent="0">
              <a:buFont typeface="Arial" panose="020B0604020202020204" pitchFamily="34" charset="0"/>
              <a:buNone/>
              <a:defRPr/>
            </a:pPr>
            <a:r>
              <a:rPr lang="es-ES" sz="2000" dirty="0"/>
              <a:t>            2X</a:t>
            </a:r>
            <a:r>
              <a:rPr lang="es-ES" sz="2000" baseline="-25000" dirty="0"/>
              <a:t>1</a:t>
            </a:r>
            <a:r>
              <a:rPr lang="es-ES" sz="2000" dirty="0"/>
              <a:t> + 1X</a:t>
            </a:r>
            <a:r>
              <a:rPr lang="es-ES" sz="2000" baseline="-25000" dirty="0"/>
              <a:t>2</a:t>
            </a:r>
            <a:r>
              <a:rPr lang="es-ES" sz="2000" dirty="0"/>
              <a:t>                    </a:t>
            </a:r>
            <a:r>
              <a:rPr lang="es-ES" sz="2000" dirty="0">
                <a:solidFill>
                  <a:srgbClr val="FF0000"/>
                </a:solidFill>
              </a:rPr>
              <a:t>+ S</a:t>
            </a:r>
            <a:r>
              <a:rPr lang="es-ES" sz="2000" baseline="-25000" dirty="0">
                <a:solidFill>
                  <a:srgbClr val="FF0000"/>
                </a:solidFill>
              </a:rPr>
              <a:t>3</a:t>
            </a:r>
            <a:r>
              <a:rPr lang="es-ES" sz="2000" dirty="0">
                <a:solidFill>
                  <a:srgbClr val="FF0000"/>
                </a:solidFill>
              </a:rPr>
              <a:t> </a:t>
            </a:r>
            <a:r>
              <a:rPr lang="es-ES" sz="2000" dirty="0"/>
              <a:t>= 400</a:t>
            </a:r>
          </a:p>
          <a:p>
            <a:pPr marL="0" indent="0">
              <a:buFont typeface="Arial" panose="020B0604020202020204" pitchFamily="34" charset="0"/>
              <a:buNone/>
              <a:defRPr/>
            </a:pPr>
            <a:r>
              <a:rPr lang="es-ES" sz="2000" dirty="0"/>
              <a:t>              X</a:t>
            </a:r>
            <a:r>
              <a:rPr lang="es-ES" sz="2000" baseline="-25000" dirty="0"/>
              <a:t>1</a:t>
            </a:r>
            <a:r>
              <a:rPr lang="es-ES" sz="2000" dirty="0"/>
              <a:t> ; X</a:t>
            </a:r>
            <a:r>
              <a:rPr lang="es-ES" sz="2000" baseline="-25000" dirty="0"/>
              <a:t>2</a:t>
            </a:r>
            <a:r>
              <a:rPr lang="es-ES" sz="2000" dirty="0"/>
              <a:t>  ; </a:t>
            </a:r>
            <a:r>
              <a:rPr lang="es-ES" sz="2000" dirty="0">
                <a:solidFill>
                  <a:srgbClr val="FF0000"/>
                </a:solidFill>
              </a:rPr>
              <a:t>S</a:t>
            </a:r>
            <a:r>
              <a:rPr lang="es-ES" sz="2000" baseline="-25000" dirty="0">
                <a:solidFill>
                  <a:srgbClr val="FF0000"/>
                </a:solidFill>
              </a:rPr>
              <a:t>1</a:t>
            </a:r>
            <a:r>
              <a:rPr lang="es-ES" sz="2000" dirty="0">
                <a:solidFill>
                  <a:srgbClr val="FF0000"/>
                </a:solidFill>
              </a:rPr>
              <a:t> ; S</a:t>
            </a:r>
            <a:r>
              <a:rPr lang="es-ES" sz="2000" baseline="-25000" dirty="0">
                <a:solidFill>
                  <a:srgbClr val="FF0000"/>
                </a:solidFill>
              </a:rPr>
              <a:t>2</a:t>
            </a:r>
            <a:r>
              <a:rPr lang="es-ES" sz="2000" dirty="0">
                <a:solidFill>
                  <a:srgbClr val="FF0000"/>
                </a:solidFill>
              </a:rPr>
              <a:t> ; S</a:t>
            </a:r>
            <a:r>
              <a:rPr lang="es-ES" sz="2000" baseline="-25000" dirty="0">
                <a:solidFill>
                  <a:srgbClr val="FF0000"/>
                </a:solidFill>
              </a:rPr>
              <a:t>3 </a:t>
            </a:r>
            <a:r>
              <a:rPr lang="es-ES" sz="2000" dirty="0"/>
              <a:t>≥ 0</a:t>
            </a:r>
            <a:endParaRPr lang="es-PE" sz="2000" dirty="0"/>
          </a:p>
          <a:p>
            <a:pPr>
              <a:defRPr/>
            </a:pPr>
            <a:endParaRPr lang="es-PE" dirty="0"/>
          </a:p>
        </p:txBody>
      </p:sp>
      <p:sp>
        <p:nvSpPr>
          <p:cNvPr id="13315" name="Título 1">
            <a:extLst>
              <a:ext uri="{FF2B5EF4-FFF2-40B4-BE49-F238E27FC236}">
                <a16:creationId xmlns:a16="http://schemas.microsoft.com/office/drawing/2014/main" id="{74481456-A0A0-2EB1-B014-107C1A2B3C38}"/>
              </a:ext>
            </a:extLst>
          </p:cNvPr>
          <p:cNvSpPr>
            <a:spLocks noGrp="1" noChangeArrowheads="1"/>
          </p:cNvSpPr>
          <p:nvPr>
            <p:ph type="title"/>
          </p:nvPr>
        </p:nvSpPr>
        <p:spPr>
          <a:xfrm>
            <a:off x="1981200" y="234950"/>
            <a:ext cx="8229600" cy="936625"/>
          </a:xfrm>
        </p:spPr>
        <p:txBody>
          <a:bodyPr/>
          <a:lstStyle/>
          <a:p>
            <a:r>
              <a:rPr lang="es-PE" altLang="es-PE"/>
              <a:t>MODELO ESTÁNDAR</a:t>
            </a:r>
          </a:p>
        </p:txBody>
      </p:sp>
      <p:sp>
        <p:nvSpPr>
          <p:cNvPr id="13316" name="Marcador de número de diapositiva 3">
            <a:extLst>
              <a:ext uri="{FF2B5EF4-FFF2-40B4-BE49-F238E27FC236}">
                <a16:creationId xmlns:a16="http://schemas.microsoft.com/office/drawing/2014/main" id="{90B05331-0AD9-98DA-DB34-571AD36D47AB}"/>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10</a:t>
            </a:fld>
            <a:endParaRPr lang="es-PE" altLang="es-PE" sz="1200">
              <a:solidFill>
                <a:srgbClr val="898989"/>
              </a:solidFill>
            </a:endParaRPr>
          </a:p>
        </p:txBody>
      </p:sp>
      <p:sp>
        <p:nvSpPr>
          <p:cNvPr id="13317" name="CuadroTexto 5">
            <a:extLst>
              <a:ext uri="{FF2B5EF4-FFF2-40B4-BE49-F238E27FC236}">
                <a16:creationId xmlns:a16="http://schemas.microsoft.com/office/drawing/2014/main" id="{F3F29047-48AA-5299-0A6F-6CC6DEBBF1A6}"/>
              </a:ext>
            </a:extLst>
          </p:cNvPr>
          <p:cNvSpPr txBox="1">
            <a:spLocks noChangeArrowheads="1"/>
          </p:cNvSpPr>
          <p:nvPr/>
        </p:nvSpPr>
        <p:spPr bwMode="auto">
          <a:xfrm>
            <a:off x="6096000" y="3027363"/>
            <a:ext cx="2936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PE" altLang="es-PE" sz="1800">
                <a:solidFill>
                  <a:srgbClr val="FF0000"/>
                </a:solidFill>
              </a:rPr>
              <a:t>Pasos 1: Tabla inicial simplex</a:t>
            </a:r>
          </a:p>
        </p:txBody>
      </p:sp>
      <p:pic>
        <p:nvPicPr>
          <p:cNvPr id="13318" name="Imagen 6">
            <a:extLst>
              <a:ext uri="{FF2B5EF4-FFF2-40B4-BE49-F238E27FC236}">
                <a16:creationId xmlns:a16="http://schemas.microsoft.com/office/drawing/2014/main" id="{614C1D66-4F24-72AF-7BC0-EBF65BBAC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3384550"/>
            <a:ext cx="7421563"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BA3BB2-7C02-3A11-4948-973D9E5FF12B}"/>
              </a:ext>
            </a:extLst>
          </p:cNvPr>
          <p:cNvSpPr>
            <a:spLocks noGrp="1"/>
          </p:cNvSpPr>
          <p:nvPr>
            <p:ph type="title"/>
          </p:nvPr>
        </p:nvSpPr>
        <p:spPr>
          <a:xfrm>
            <a:off x="1981200" y="311150"/>
            <a:ext cx="8696632" cy="1092200"/>
          </a:xfrm>
        </p:spPr>
        <p:txBody>
          <a:bodyPr>
            <a:normAutofit/>
          </a:bodyPr>
          <a:lstStyle/>
          <a:p>
            <a:pPr>
              <a:defRPr/>
            </a:pPr>
            <a:r>
              <a:rPr lang="es-PE" dirty="0"/>
              <a:t>Construcción de la Tercera Tabla Simplex</a:t>
            </a:r>
          </a:p>
        </p:txBody>
      </p:sp>
      <p:sp>
        <p:nvSpPr>
          <p:cNvPr id="14339" name="Marcador de número de diapositiva 3">
            <a:extLst>
              <a:ext uri="{FF2B5EF4-FFF2-40B4-BE49-F238E27FC236}">
                <a16:creationId xmlns:a16="http://schemas.microsoft.com/office/drawing/2014/main" id="{5EEAFC64-51E1-783F-C01C-CC97B85CF57C}"/>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11</a:t>
            </a:fld>
            <a:endParaRPr lang="es-PE" altLang="es-PE" sz="1200">
              <a:solidFill>
                <a:srgbClr val="898989"/>
              </a:solidFill>
            </a:endParaRPr>
          </a:p>
        </p:txBody>
      </p:sp>
      <p:pic>
        <p:nvPicPr>
          <p:cNvPr id="14340" name="Marcador de contenido 4">
            <a:extLst>
              <a:ext uri="{FF2B5EF4-FFF2-40B4-BE49-F238E27FC236}">
                <a16:creationId xmlns:a16="http://schemas.microsoft.com/office/drawing/2014/main" id="{51D141D2-E9F7-CDB4-8410-C45569D378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74850" y="1844675"/>
            <a:ext cx="8229600" cy="1951038"/>
          </a:xfrm>
        </p:spPr>
      </p:pic>
      <p:sp>
        <p:nvSpPr>
          <p:cNvPr id="14341" name="CuadroTexto 12">
            <a:extLst>
              <a:ext uri="{FF2B5EF4-FFF2-40B4-BE49-F238E27FC236}">
                <a16:creationId xmlns:a16="http://schemas.microsoft.com/office/drawing/2014/main" id="{3D8B7223-2D88-40E5-BABE-0378821BA1CB}"/>
              </a:ext>
            </a:extLst>
          </p:cNvPr>
          <p:cNvSpPr txBox="1">
            <a:spLocks noChangeArrowheads="1"/>
          </p:cNvSpPr>
          <p:nvPr/>
        </p:nvSpPr>
        <p:spPr bwMode="auto">
          <a:xfrm>
            <a:off x="1981200" y="1395413"/>
            <a:ext cx="2193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PE" altLang="es-PE" sz="1800">
                <a:solidFill>
                  <a:srgbClr val="FF0000"/>
                </a:solidFill>
              </a:rPr>
              <a:t>Tercera Tabla Simplex</a:t>
            </a:r>
          </a:p>
        </p:txBody>
      </p:sp>
      <p:sp>
        <p:nvSpPr>
          <p:cNvPr id="9" name="Elipse 8">
            <a:extLst>
              <a:ext uri="{FF2B5EF4-FFF2-40B4-BE49-F238E27FC236}">
                <a16:creationId xmlns:a16="http://schemas.microsoft.com/office/drawing/2014/main" id="{9F488D4F-C229-D729-69A7-D1C3F391BB2F}"/>
              </a:ext>
            </a:extLst>
          </p:cNvPr>
          <p:cNvSpPr/>
          <p:nvPr/>
        </p:nvSpPr>
        <p:spPr>
          <a:xfrm>
            <a:off x="9680575" y="3200400"/>
            <a:ext cx="585788" cy="2873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PE"/>
          </a:p>
        </p:txBody>
      </p:sp>
      <p:graphicFrame>
        <p:nvGraphicFramePr>
          <p:cNvPr id="7" name="Tabla 6">
            <a:extLst>
              <a:ext uri="{FF2B5EF4-FFF2-40B4-BE49-F238E27FC236}">
                <a16:creationId xmlns:a16="http://schemas.microsoft.com/office/drawing/2014/main" id="{3F1BA4BA-DC63-691B-6DC2-188A136F7B3E}"/>
              </a:ext>
            </a:extLst>
          </p:cNvPr>
          <p:cNvGraphicFramePr>
            <a:graphicFrameLocks noGrp="1"/>
          </p:cNvGraphicFramePr>
          <p:nvPr>
            <p:extLst>
              <p:ext uri="{D42A27DB-BD31-4B8C-83A1-F6EECF244321}">
                <p14:modId xmlns:p14="http://schemas.microsoft.com/office/powerpoint/2010/main" val="2721124326"/>
              </p:ext>
            </p:extLst>
          </p:nvPr>
        </p:nvGraphicFramePr>
        <p:xfrm>
          <a:off x="1775747" y="3837807"/>
          <a:ext cx="4752872" cy="2560635"/>
        </p:xfrm>
        <a:graphic>
          <a:graphicData uri="http://schemas.openxmlformats.org/drawingml/2006/table">
            <a:tbl>
              <a:tblPr firstRow="1" bandRow="1">
                <a:tableStyleId>{5C22544A-7EE6-4342-B048-85BDC9FD1C3A}</a:tableStyleId>
              </a:tblPr>
              <a:tblGrid>
                <a:gridCol w="1840066">
                  <a:extLst>
                    <a:ext uri="{9D8B030D-6E8A-4147-A177-3AD203B41FA5}">
                      <a16:colId xmlns:a16="http://schemas.microsoft.com/office/drawing/2014/main" val="20000"/>
                    </a:ext>
                  </a:extLst>
                </a:gridCol>
                <a:gridCol w="1376516">
                  <a:extLst>
                    <a:ext uri="{9D8B030D-6E8A-4147-A177-3AD203B41FA5}">
                      <a16:colId xmlns:a16="http://schemas.microsoft.com/office/drawing/2014/main" val="20001"/>
                    </a:ext>
                  </a:extLst>
                </a:gridCol>
                <a:gridCol w="1536290">
                  <a:extLst>
                    <a:ext uri="{9D8B030D-6E8A-4147-A177-3AD203B41FA5}">
                      <a16:colId xmlns:a16="http://schemas.microsoft.com/office/drawing/2014/main" val="20002"/>
                    </a:ext>
                  </a:extLst>
                </a:gridCol>
              </a:tblGrid>
              <a:tr h="365805">
                <a:tc>
                  <a:txBody>
                    <a:bodyPr/>
                    <a:lstStyle/>
                    <a:p>
                      <a:pPr algn="ctr"/>
                      <a:r>
                        <a:rPr lang="es-PE" sz="1800" dirty="0"/>
                        <a:t>RESULTADO</a:t>
                      </a:r>
                    </a:p>
                  </a:txBody>
                  <a:tcPr marL="91427" marR="91427" marT="45726" marB="45726"/>
                </a:tc>
                <a:tc>
                  <a:txBody>
                    <a:bodyPr/>
                    <a:lstStyle/>
                    <a:p>
                      <a:pPr algn="ctr"/>
                      <a:r>
                        <a:rPr lang="es-PE" sz="1800" dirty="0"/>
                        <a:t>VALORES</a:t>
                      </a:r>
                    </a:p>
                  </a:txBody>
                  <a:tcPr marL="91427" marR="91427" marT="45726" marB="45726"/>
                </a:tc>
                <a:tc>
                  <a:txBody>
                    <a:bodyPr/>
                    <a:lstStyle/>
                    <a:p>
                      <a:pPr algn="ctr"/>
                      <a:r>
                        <a:rPr lang="es-PE" sz="1800" dirty="0"/>
                        <a:t>VARIABLE</a:t>
                      </a:r>
                    </a:p>
                  </a:txBody>
                  <a:tcPr marL="91427" marR="91427" marT="45726" marB="45726"/>
                </a:tc>
                <a:extLst>
                  <a:ext uri="{0D108BD9-81ED-4DB2-BD59-A6C34878D82A}">
                    <a16:rowId xmlns:a16="http://schemas.microsoft.com/office/drawing/2014/main" val="10000"/>
                  </a:ext>
                </a:extLst>
              </a:tr>
              <a:tr h="365805">
                <a:tc>
                  <a:txBody>
                    <a:bodyPr/>
                    <a:lstStyle/>
                    <a:p>
                      <a:pPr algn="ctr"/>
                      <a:r>
                        <a:rPr lang="es-PE" sz="1800" dirty="0"/>
                        <a:t>X1</a:t>
                      </a:r>
                    </a:p>
                  </a:txBody>
                  <a:tcPr marL="91427" marR="91427" marT="45726" marB="45726"/>
                </a:tc>
                <a:tc>
                  <a:txBody>
                    <a:bodyPr/>
                    <a:lstStyle/>
                    <a:p>
                      <a:pPr algn="ctr"/>
                      <a:r>
                        <a:rPr lang="es-PE" sz="1800" dirty="0"/>
                        <a:t>75</a:t>
                      </a:r>
                    </a:p>
                  </a:txBody>
                  <a:tcPr marL="91427" marR="91427" marT="45726" marB="45726"/>
                </a:tc>
                <a:tc>
                  <a:txBody>
                    <a:bodyPr/>
                    <a:lstStyle/>
                    <a:p>
                      <a:pPr algn="ctr"/>
                      <a:r>
                        <a:rPr lang="es-PE" sz="1800" dirty="0"/>
                        <a:t>BÁSICA</a:t>
                      </a:r>
                    </a:p>
                  </a:txBody>
                  <a:tcPr marL="91427" marR="91427" marT="45726" marB="45726"/>
                </a:tc>
                <a:extLst>
                  <a:ext uri="{0D108BD9-81ED-4DB2-BD59-A6C34878D82A}">
                    <a16:rowId xmlns:a16="http://schemas.microsoft.com/office/drawing/2014/main" val="10001"/>
                  </a:ext>
                </a:extLst>
              </a:tr>
              <a:tr h="365805">
                <a:tc>
                  <a:txBody>
                    <a:bodyPr/>
                    <a:lstStyle/>
                    <a:p>
                      <a:pPr algn="ctr"/>
                      <a:r>
                        <a:rPr lang="es-PE" sz="1800" dirty="0"/>
                        <a:t>X2</a:t>
                      </a:r>
                    </a:p>
                  </a:txBody>
                  <a:tcPr marL="91427" marR="91427" marT="45726" marB="45726"/>
                </a:tc>
                <a:tc>
                  <a:txBody>
                    <a:bodyPr/>
                    <a:lstStyle/>
                    <a:p>
                      <a:pPr algn="ctr"/>
                      <a:r>
                        <a:rPr lang="es-PE" sz="1800" dirty="0"/>
                        <a:t>150</a:t>
                      </a:r>
                    </a:p>
                  </a:txBody>
                  <a:tcPr marL="91427" marR="91427" marT="45726" marB="45726"/>
                </a:tc>
                <a:tc>
                  <a:txBody>
                    <a:bodyPr/>
                    <a:lstStyle/>
                    <a:p>
                      <a:pPr algn="ctr"/>
                      <a:r>
                        <a:rPr lang="es-PE" sz="1800" dirty="0"/>
                        <a:t>BÁSICA</a:t>
                      </a:r>
                    </a:p>
                  </a:txBody>
                  <a:tcPr marL="91427" marR="91427" marT="45726" marB="45726"/>
                </a:tc>
                <a:extLst>
                  <a:ext uri="{0D108BD9-81ED-4DB2-BD59-A6C34878D82A}">
                    <a16:rowId xmlns:a16="http://schemas.microsoft.com/office/drawing/2014/main" val="10002"/>
                  </a:ext>
                </a:extLst>
              </a:tr>
              <a:tr h="365805">
                <a:tc>
                  <a:txBody>
                    <a:bodyPr/>
                    <a:lstStyle/>
                    <a:p>
                      <a:pPr algn="ctr"/>
                      <a:r>
                        <a:rPr lang="es-PE" sz="1800" dirty="0"/>
                        <a:t>S1</a:t>
                      </a:r>
                    </a:p>
                  </a:txBody>
                  <a:tcPr marL="91427" marR="91427" marT="45726" marB="45726"/>
                </a:tc>
                <a:tc>
                  <a:txBody>
                    <a:bodyPr/>
                    <a:lstStyle/>
                    <a:p>
                      <a:pPr algn="ctr"/>
                      <a:r>
                        <a:rPr lang="es-PE" sz="1800" dirty="0"/>
                        <a:t>0</a:t>
                      </a:r>
                    </a:p>
                  </a:txBody>
                  <a:tcPr marL="91427" marR="91427" marT="45726" marB="45726"/>
                </a:tc>
                <a:tc>
                  <a:txBody>
                    <a:bodyPr/>
                    <a:lstStyle/>
                    <a:p>
                      <a:pPr algn="ctr"/>
                      <a:r>
                        <a:rPr lang="es-PE" sz="1800" dirty="0"/>
                        <a:t>NO BÁSICA</a:t>
                      </a:r>
                    </a:p>
                  </a:txBody>
                  <a:tcPr marL="91427" marR="91427" marT="45726" marB="45726"/>
                </a:tc>
                <a:extLst>
                  <a:ext uri="{0D108BD9-81ED-4DB2-BD59-A6C34878D82A}">
                    <a16:rowId xmlns:a16="http://schemas.microsoft.com/office/drawing/2014/main" val="10003"/>
                  </a:ext>
                </a:extLst>
              </a:tr>
              <a:tr h="365805">
                <a:tc>
                  <a:txBody>
                    <a:bodyPr/>
                    <a:lstStyle/>
                    <a:p>
                      <a:pPr algn="ctr"/>
                      <a:r>
                        <a:rPr lang="es-PE" sz="1800" dirty="0"/>
                        <a:t>S2</a:t>
                      </a:r>
                    </a:p>
                  </a:txBody>
                  <a:tcPr marL="91427" marR="91427" marT="45726" marB="45726"/>
                </a:tc>
                <a:tc>
                  <a:txBody>
                    <a:bodyPr/>
                    <a:lstStyle/>
                    <a:p>
                      <a:pPr algn="ctr"/>
                      <a:r>
                        <a:rPr lang="es-PE" sz="1800" dirty="0"/>
                        <a:t>0</a:t>
                      </a:r>
                    </a:p>
                  </a:txBody>
                  <a:tcPr marL="91427" marR="91427" marT="45726" marB="45726"/>
                </a:tc>
                <a:tc>
                  <a:txBody>
                    <a:bodyPr/>
                    <a:lstStyle/>
                    <a:p>
                      <a:pPr algn="ctr"/>
                      <a:r>
                        <a:rPr lang="es-PE" sz="1800" dirty="0"/>
                        <a:t>NO BÁSICA</a:t>
                      </a:r>
                    </a:p>
                  </a:txBody>
                  <a:tcPr marL="91427" marR="91427" marT="45726" marB="45726"/>
                </a:tc>
                <a:extLst>
                  <a:ext uri="{0D108BD9-81ED-4DB2-BD59-A6C34878D82A}">
                    <a16:rowId xmlns:a16="http://schemas.microsoft.com/office/drawing/2014/main" val="10004"/>
                  </a:ext>
                </a:extLst>
              </a:tr>
              <a:tr h="365805">
                <a:tc>
                  <a:txBody>
                    <a:bodyPr/>
                    <a:lstStyle/>
                    <a:p>
                      <a:pPr algn="ctr"/>
                      <a:r>
                        <a:rPr lang="es-PE" sz="1800" dirty="0"/>
                        <a:t>S3</a:t>
                      </a:r>
                    </a:p>
                  </a:txBody>
                  <a:tcPr marL="91427" marR="91427" marT="45726" marB="45726"/>
                </a:tc>
                <a:tc>
                  <a:txBody>
                    <a:bodyPr/>
                    <a:lstStyle/>
                    <a:p>
                      <a:pPr algn="ctr"/>
                      <a:r>
                        <a:rPr lang="es-PE" sz="1800" dirty="0"/>
                        <a:t>100</a:t>
                      </a:r>
                    </a:p>
                  </a:txBody>
                  <a:tcPr marL="91427" marR="91427" marT="45726" marB="45726"/>
                </a:tc>
                <a:tc>
                  <a:txBody>
                    <a:bodyPr/>
                    <a:lstStyle/>
                    <a:p>
                      <a:pPr algn="ctr"/>
                      <a:r>
                        <a:rPr lang="es-PE" sz="1800" dirty="0"/>
                        <a:t>BÁSICA</a:t>
                      </a:r>
                    </a:p>
                  </a:txBody>
                  <a:tcPr marL="91427" marR="91427" marT="45726" marB="45726"/>
                </a:tc>
                <a:extLst>
                  <a:ext uri="{0D108BD9-81ED-4DB2-BD59-A6C34878D82A}">
                    <a16:rowId xmlns:a16="http://schemas.microsoft.com/office/drawing/2014/main" val="10005"/>
                  </a:ext>
                </a:extLst>
              </a:tr>
              <a:tr h="365805">
                <a:tc>
                  <a:txBody>
                    <a:bodyPr/>
                    <a:lstStyle/>
                    <a:p>
                      <a:pPr algn="ctr"/>
                      <a:r>
                        <a:rPr lang="es-PE" sz="1800" dirty="0"/>
                        <a:t>Z</a:t>
                      </a:r>
                    </a:p>
                  </a:txBody>
                  <a:tcPr marL="91427" marR="91427" marT="45726" marB="45726"/>
                </a:tc>
                <a:tc>
                  <a:txBody>
                    <a:bodyPr/>
                    <a:lstStyle/>
                    <a:p>
                      <a:pPr algn="ctr"/>
                      <a:r>
                        <a:rPr lang="es-PE" sz="1800" dirty="0"/>
                        <a:t>3075</a:t>
                      </a:r>
                    </a:p>
                  </a:txBody>
                  <a:tcPr marL="91427" marR="91427" marT="45726" marB="45726"/>
                </a:tc>
                <a:tc>
                  <a:txBody>
                    <a:bodyPr/>
                    <a:lstStyle/>
                    <a:p>
                      <a:pPr algn="ctr"/>
                      <a:endParaRPr lang="es-PE" sz="1800" dirty="0"/>
                    </a:p>
                  </a:txBody>
                  <a:tcPr marL="91427" marR="91427" marT="45726" marB="45726"/>
                </a:tc>
                <a:extLst>
                  <a:ext uri="{0D108BD9-81ED-4DB2-BD59-A6C34878D82A}">
                    <a16:rowId xmlns:a16="http://schemas.microsoft.com/office/drawing/2014/main" val="10006"/>
                  </a:ext>
                </a:extLst>
              </a:tr>
            </a:tbl>
          </a:graphicData>
        </a:graphic>
      </p:graphicFrame>
      <p:graphicFrame>
        <p:nvGraphicFramePr>
          <p:cNvPr id="10" name="Tabla 9">
            <a:extLst>
              <a:ext uri="{FF2B5EF4-FFF2-40B4-BE49-F238E27FC236}">
                <a16:creationId xmlns:a16="http://schemas.microsoft.com/office/drawing/2014/main" id="{FBC2B778-34B8-1CCB-7006-7A47239380CC}"/>
              </a:ext>
            </a:extLst>
          </p:cNvPr>
          <p:cNvGraphicFramePr>
            <a:graphicFrameLocks noGrp="1"/>
          </p:cNvGraphicFramePr>
          <p:nvPr>
            <p:extLst>
              <p:ext uri="{D42A27DB-BD31-4B8C-83A1-F6EECF244321}">
                <p14:modId xmlns:p14="http://schemas.microsoft.com/office/powerpoint/2010/main" val="275466933"/>
              </p:ext>
            </p:extLst>
          </p:nvPr>
        </p:nvGraphicFramePr>
        <p:xfrm>
          <a:off x="6888163" y="4344988"/>
          <a:ext cx="2963760" cy="1482724"/>
        </p:xfrm>
        <a:graphic>
          <a:graphicData uri="http://schemas.openxmlformats.org/drawingml/2006/table">
            <a:tbl>
              <a:tblPr firstRow="1" bandRow="1">
                <a:tableStyleId>{5C22544A-7EE6-4342-B048-85BDC9FD1C3A}</a:tableStyleId>
              </a:tblPr>
              <a:tblGrid>
                <a:gridCol w="1557747">
                  <a:extLst>
                    <a:ext uri="{9D8B030D-6E8A-4147-A177-3AD203B41FA5}">
                      <a16:colId xmlns:a16="http://schemas.microsoft.com/office/drawing/2014/main" val="20000"/>
                    </a:ext>
                  </a:extLst>
                </a:gridCol>
                <a:gridCol w="1406013">
                  <a:extLst>
                    <a:ext uri="{9D8B030D-6E8A-4147-A177-3AD203B41FA5}">
                      <a16:colId xmlns:a16="http://schemas.microsoft.com/office/drawing/2014/main" val="20001"/>
                    </a:ext>
                  </a:extLst>
                </a:gridCol>
              </a:tblGrid>
              <a:tr h="370681">
                <a:tc>
                  <a:txBody>
                    <a:bodyPr/>
                    <a:lstStyle/>
                    <a:p>
                      <a:pPr algn="ctr"/>
                      <a:r>
                        <a:rPr lang="es-PE" sz="1800" dirty="0"/>
                        <a:t>Restricción</a:t>
                      </a:r>
                    </a:p>
                  </a:txBody>
                  <a:tcPr marL="91456" marR="91456" marT="45700" marB="45700"/>
                </a:tc>
                <a:tc>
                  <a:txBody>
                    <a:bodyPr/>
                    <a:lstStyle/>
                    <a:p>
                      <a:pPr algn="ctr"/>
                      <a:r>
                        <a:rPr lang="es-PE" sz="1800" dirty="0"/>
                        <a:t>Valor Dual</a:t>
                      </a:r>
                    </a:p>
                  </a:txBody>
                  <a:tcPr marL="91456" marR="91456" marT="45700" marB="45700"/>
                </a:tc>
                <a:extLst>
                  <a:ext uri="{0D108BD9-81ED-4DB2-BD59-A6C34878D82A}">
                    <a16:rowId xmlns:a16="http://schemas.microsoft.com/office/drawing/2014/main" val="10000"/>
                  </a:ext>
                </a:extLst>
              </a:tr>
              <a:tr h="370681">
                <a:tc>
                  <a:txBody>
                    <a:bodyPr/>
                    <a:lstStyle/>
                    <a:p>
                      <a:pPr algn="ctr"/>
                      <a:r>
                        <a:rPr lang="es-PE" sz="1800" dirty="0"/>
                        <a:t>R1 (S1)</a:t>
                      </a:r>
                    </a:p>
                  </a:txBody>
                  <a:tcPr marL="91456" marR="91456" marT="45700" marB="45700"/>
                </a:tc>
                <a:tc>
                  <a:txBody>
                    <a:bodyPr/>
                    <a:lstStyle/>
                    <a:p>
                      <a:pPr algn="ctr"/>
                      <a:r>
                        <a:rPr lang="es-PE" sz="1800" dirty="0"/>
                        <a:t>1</a:t>
                      </a:r>
                    </a:p>
                  </a:txBody>
                  <a:tcPr marL="91456" marR="91456" marT="45700" marB="45700"/>
                </a:tc>
                <a:extLst>
                  <a:ext uri="{0D108BD9-81ED-4DB2-BD59-A6C34878D82A}">
                    <a16:rowId xmlns:a16="http://schemas.microsoft.com/office/drawing/2014/main" val="10001"/>
                  </a:ext>
                </a:extLst>
              </a:tr>
              <a:tr h="370681">
                <a:tc>
                  <a:txBody>
                    <a:bodyPr/>
                    <a:lstStyle/>
                    <a:p>
                      <a:pPr algn="ctr"/>
                      <a:r>
                        <a:rPr lang="es-PE" sz="1800" dirty="0"/>
                        <a:t>R2 (S2)</a:t>
                      </a:r>
                    </a:p>
                  </a:txBody>
                  <a:tcPr marL="91456" marR="91456" marT="45700" marB="45700"/>
                </a:tc>
                <a:tc>
                  <a:txBody>
                    <a:bodyPr/>
                    <a:lstStyle/>
                    <a:p>
                      <a:pPr algn="ctr"/>
                      <a:r>
                        <a:rPr lang="es-PE" sz="1800" dirty="0"/>
                        <a:t>11</a:t>
                      </a:r>
                    </a:p>
                  </a:txBody>
                  <a:tcPr marL="91456" marR="91456" marT="45700" marB="45700"/>
                </a:tc>
                <a:extLst>
                  <a:ext uri="{0D108BD9-81ED-4DB2-BD59-A6C34878D82A}">
                    <a16:rowId xmlns:a16="http://schemas.microsoft.com/office/drawing/2014/main" val="10002"/>
                  </a:ext>
                </a:extLst>
              </a:tr>
              <a:tr h="370681">
                <a:tc>
                  <a:txBody>
                    <a:bodyPr/>
                    <a:lstStyle/>
                    <a:p>
                      <a:pPr algn="ctr"/>
                      <a:r>
                        <a:rPr lang="es-PE" sz="1800" dirty="0"/>
                        <a:t>R3 (S3)</a:t>
                      </a:r>
                    </a:p>
                  </a:txBody>
                  <a:tcPr marL="91456" marR="91456" marT="45700" marB="45700"/>
                </a:tc>
                <a:tc>
                  <a:txBody>
                    <a:bodyPr/>
                    <a:lstStyle/>
                    <a:p>
                      <a:pPr algn="ctr"/>
                      <a:r>
                        <a:rPr lang="es-PE" sz="1800" dirty="0"/>
                        <a:t>0</a:t>
                      </a:r>
                    </a:p>
                  </a:txBody>
                  <a:tcPr marL="91456" marR="91456" marT="45700" marB="45700"/>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E39F440-2526-9CBC-0F8F-3AF48D0518AF}"/>
              </a:ext>
            </a:extLst>
          </p:cNvPr>
          <p:cNvSpPr>
            <a:spLocks noGrp="1"/>
          </p:cNvSpPr>
          <p:nvPr>
            <p:ph idx="1"/>
          </p:nvPr>
        </p:nvSpPr>
        <p:spPr/>
        <p:txBody>
          <a:bodyPr/>
          <a:lstStyle/>
          <a:p>
            <a:pPr marL="0" indent="0" algn="just">
              <a:buFont typeface="Arial" panose="020B0604020202020204" pitchFamily="34" charset="0"/>
              <a:buNone/>
              <a:defRPr/>
            </a:pPr>
            <a:r>
              <a:rPr lang="es-ES" dirty="0"/>
              <a:t>¿Cuántos paquetes le conviene poner de cada tipo para obtener el máximo beneficio?</a:t>
            </a:r>
            <a:endParaRPr lang="es-PE" dirty="0"/>
          </a:p>
          <a:p>
            <a:pPr marL="0" indent="0" algn="just">
              <a:buFont typeface="Arial" panose="020B0604020202020204" pitchFamily="34" charset="0"/>
              <a:buNone/>
              <a:defRPr/>
            </a:pPr>
            <a:endParaRPr lang="es-PE" dirty="0"/>
          </a:p>
          <a:p>
            <a:pPr marL="0" indent="0" algn="just">
              <a:buFont typeface="Arial" panose="020B0604020202020204" pitchFamily="34" charset="0"/>
              <a:buNone/>
              <a:defRPr/>
            </a:pPr>
            <a:r>
              <a:rPr lang="es-PE" dirty="0" err="1"/>
              <a:t>Rpta</a:t>
            </a:r>
            <a:r>
              <a:rPr lang="es-PE" dirty="0"/>
              <a:t>: Se debe armar 75 paquetes del tipo A y 150 paquetes del tipo B, que nos darán una ganancia de $ 3075</a:t>
            </a:r>
          </a:p>
          <a:p>
            <a:pPr>
              <a:defRPr/>
            </a:pPr>
            <a:endParaRPr lang="es-PE" dirty="0"/>
          </a:p>
        </p:txBody>
      </p:sp>
      <p:sp>
        <p:nvSpPr>
          <p:cNvPr id="15363" name="Título 1">
            <a:extLst>
              <a:ext uri="{FF2B5EF4-FFF2-40B4-BE49-F238E27FC236}">
                <a16:creationId xmlns:a16="http://schemas.microsoft.com/office/drawing/2014/main" id="{D06CF294-08C3-7DFC-C62F-64F20774FA3E}"/>
              </a:ext>
            </a:extLst>
          </p:cNvPr>
          <p:cNvSpPr>
            <a:spLocks noGrp="1" noChangeArrowheads="1"/>
          </p:cNvSpPr>
          <p:nvPr>
            <p:ph type="title"/>
          </p:nvPr>
        </p:nvSpPr>
        <p:spPr>
          <a:xfrm>
            <a:off x="2026572" y="217472"/>
            <a:ext cx="9051925" cy="1025525"/>
          </a:xfrm>
        </p:spPr>
        <p:txBody>
          <a:bodyPr/>
          <a:lstStyle/>
          <a:p>
            <a:r>
              <a:rPr lang="es-PE" altLang="es-PE" dirty="0"/>
              <a:t>Interpretación de los Resultados</a:t>
            </a:r>
          </a:p>
        </p:txBody>
      </p:sp>
      <p:sp>
        <p:nvSpPr>
          <p:cNvPr id="15364" name="Marcador de número de diapositiva 3">
            <a:extLst>
              <a:ext uri="{FF2B5EF4-FFF2-40B4-BE49-F238E27FC236}">
                <a16:creationId xmlns:a16="http://schemas.microsoft.com/office/drawing/2014/main" id="{AAAEAD95-3601-9C3E-356B-2C04A6DA0BC8}"/>
              </a:ext>
            </a:extLst>
          </p:cNvPr>
          <p:cNvSpPr>
            <a:spLocks noGrp="1" noChangeArrowheads="1"/>
          </p:cNvSpPr>
          <p:nvPr>
            <p:ph type="sldNum" sz="quarter" idx="12"/>
          </p:nvPr>
        </p:nvSpPr>
        <p:spPr bwMode="auto">
          <a:xfrm>
            <a:off x="8610600" y="6356350"/>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s-PE"/>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nSpc>
                <a:spcPct val="100000"/>
              </a:lnSpc>
              <a:spcBef>
                <a:spcPct val="0"/>
              </a:spcBef>
              <a:buFontTx/>
              <a:buNone/>
            </a:pPr>
            <a:fld id="{53219590-41B7-4708-AE99-947069C4C0ED}" type="slidenum">
              <a:rPr lang="es-PE" altLang="es-PE" smtClean="0"/>
              <a:pPr>
                <a:defRPr/>
              </a:pPr>
              <a:t>12</a:t>
            </a:fld>
            <a:endParaRPr lang="es-PE" altLang="es-PE"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ítulo 1">
            <a:extLst>
              <a:ext uri="{FF2B5EF4-FFF2-40B4-BE49-F238E27FC236}">
                <a16:creationId xmlns:a16="http://schemas.microsoft.com/office/drawing/2014/main" id="{FE92E044-15EC-6974-DA3A-CD6CEDE12FEB}"/>
              </a:ext>
            </a:extLst>
          </p:cNvPr>
          <p:cNvSpPr>
            <a:spLocks noGrp="1" noChangeArrowheads="1"/>
          </p:cNvSpPr>
          <p:nvPr>
            <p:ph type="title"/>
          </p:nvPr>
        </p:nvSpPr>
        <p:spPr>
          <a:xfrm>
            <a:off x="2228850" y="365125"/>
            <a:ext cx="9124950" cy="1016000"/>
          </a:xfrm>
        </p:spPr>
        <p:txBody>
          <a:bodyPr/>
          <a:lstStyle/>
          <a:p>
            <a:r>
              <a:rPr lang="es-ES" altLang="es-PE"/>
              <a:t>EJEMPLO NRO 01:</a:t>
            </a:r>
            <a:endParaRPr lang="es-PE" altLang="es-PE"/>
          </a:p>
        </p:txBody>
      </p:sp>
      <p:sp>
        <p:nvSpPr>
          <p:cNvPr id="3" name="Marcador de contenido 2">
            <a:extLst>
              <a:ext uri="{FF2B5EF4-FFF2-40B4-BE49-F238E27FC236}">
                <a16:creationId xmlns:a16="http://schemas.microsoft.com/office/drawing/2014/main" id="{1B8B9F47-07B0-2923-4433-B3AFF3ACAF68}"/>
              </a:ext>
            </a:extLst>
          </p:cNvPr>
          <p:cNvSpPr>
            <a:spLocks noGrp="1"/>
          </p:cNvSpPr>
          <p:nvPr>
            <p:ph idx="1"/>
          </p:nvPr>
        </p:nvSpPr>
        <p:spPr>
          <a:xfrm>
            <a:off x="838200" y="1381125"/>
            <a:ext cx="6419850" cy="4351338"/>
          </a:xfrm>
        </p:spPr>
        <p:txBody>
          <a:bodyPr>
            <a:normAutofit lnSpcReduction="10000"/>
          </a:bodyPr>
          <a:lstStyle/>
          <a:p>
            <a:pPr marL="0" indent="0" algn="just">
              <a:buFont typeface="Arial" panose="020B0604020202020204" pitchFamily="34" charset="0"/>
              <a:buNone/>
              <a:defRPr/>
            </a:pPr>
            <a:r>
              <a:rPr lang="es-ES" sz="2200" dirty="0"/>
              <a:t>Relojes Peruanos fabrica dos tipos de relojes: elegantes y deportivos. Para fabricar un reloj elegante emplea una hora de diseño y 3 horas de manufactura, para un reloj deportivo 2 horas de diseño y 2 horas de manufactura.</a:t>
            </a:r>
            <a:endParaRPr lang="es-PE" sz="2200" dirty="0"/>
          </a:p>
          <a:p>
            <a:pPr marL="0" indent="0" algn="just">
              <a:buFont typeface="Arial" panose="020B0604020202020204" pitchFamily="34" charset="0"/>
              <a:buNone/>
              <a:defRPr/>
            </a:pPr>
            <a:r>
              <a:rPr lang="es-ES" sz="2200" dirty="0"/>
              <a:t>Diariamente se cuenta con un máximo disponible de 8 horas de diseño y 12 horas de manufactura; además, con cada reloj elegante se obtiene una ganancia de 20 dólares mientras que con cada reloj deportivo 16 dólares.</a:t>
            </a:r>
            <a:endParaRPr lang="es-PE" sz="2200" dirty="0"/>
          </a:p>
          <a:p>
            <a:pPr marL="0" indent="0" algn="just">
              <a:buFont typeface="Arial" panose="020B0604020202020204" pitchFamily="34" charset="0"/>
              <a:buNone/>
              <a:defRPr/>
            </a:pPr>
            <a:r>
              <a:rPr lang="es-ES" sz="2200" dirty="0"/>
              <a:t>¿Cuál será la combinación óptima de fabricación de relojes que permita obtener la máxima ganancia?</a:t>
            </a:r>
            <a:endParaRPr lang="es-PE" sz="2200" dirty="0"/>
          </a:p>
          <a:p>
            <a:pPr>
              <a:defRPr/>
            </a:pPr>
            <a:endParaRPr lang="es-PE" dirty="0"/>
          </a:p>
        </p:txBody>
      </p:sp>
      <p:sp>
        <p:nvSpPr>
          <p:cNvPr id="16388" name="CuadroTexto 3">
            <a:extLst>
              <a:ext uri="{FF2B5EF4-FFF2-40B4-BE49-F238E27FC236}">
                <a16:creationId xmlns:a16="http://schemas.microsoft.com/office/drawing/2014/main" id="{B5B9943F-BD94-6713-1BCA-5D604BD2F1D4}"/>
              </a:ext>
            </a:extLst>
          </p:cNvPr>
          <p:cNvSpPr txBox="1">
            <a:spLocks noChangeArrowheads="1"/>
          </p:cNvSpPr>
          <p:nvPr/>
        </p:nvSpPr>
        <p:spPr bwMode="auto">
          <a:xfrm>
            <a:off x="7943850" y="1825625"/>
            <a:ext cx="340995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ES" altLang="es-PE" sz="1800"/>
              <a:t>Modelo Matemático</a:t>
            </a:r>
            <a:endParaRPr lang="es-PE" altLang="es-PE" sz="1800"/>
          </a:p>
          <a:p>
            <a:pPr>
              <a:lnSpc>
                <a:spcPct val="100000"/>
              </a:lnSpc>
              <a:spcBef>
                <a:spcPct val="0"/>
              </a:spcBef>
              <a:buFontTx/>
              <a:buNone/>
            </a:pPr>
            <a:r>
              <a:rPr lang="es-ES" altLang="es-PE" sz="1800"/>
              <a:t>Variables:</a:t>
            </a:r>
            <a:endParaRPr lang="es-PE" altLang="es-PE" sz="1800"/>
          </a:p>
          <a:p>
            <a:pPr>
              <a:lnSpc>
                <a:spcPct val="100000"/>
              </a:lnSpc>
              <a:spcBef>
                <a:spcPct val="0"/>
              </a:spcBef>
              <a:buFontTx/>
              <a:buNone/>
            </a:pPr>
            <a:r>
              <a:rPr lang="es-ES" altLang="es-PE" sz="1800"/>
              <a:t>x</a:t>
            </a:r>
            <a:r>
              <a:rPr lang="es-ES" altLang="es-PE" sz="1800" baseline="-25000"/>
              <a:t>1</a:t>
            </a:r>
            <a:r>
              <a:rPr lang="es-ES" altLang="es-PE" sz="1800"/>
              <a:t>: Número de relojes elegantes</a:t>
            </a:r>
            <a:endParaRPr lang="es-PE" altLang="es-PE" sz="1800"/>
          </a:p>
          <a:p>
            <a:pPr>
              <a:lnSpc>
                <a:spcPct val="100000"/>
              </a:lnSpc>
              <a:spcBef>
                <a:spcPct val="0"/>
              </a:spcBef>
              <a:buFontTx/>
              <a:buNone/>
            </a:pPr>
            <a:r>
              <a:rPr lang="es-ES" altLang="es-PE" sz="1800"/>
              <a:t>x</a:t>
            </a:r>
            <a:r>
              <a:rPr lang="es-ES" altLang="es-PE" sz="1800" baseline="-25000"/>
              <a:t>2</a:t>
            </a:r>
            <a:r>
              <a:rPr lang="es-ES" altLang="es-PE" sz="1800"/>
              <a:t>: Número de relojes deportivos</a:t>
            </a:r>
            <a:endParaRPr lang="es-PE" altLang="es-PE" sz="1800"/>
          </a:p>
          <a:p>
            <a:pPr>
              <a:lnSpc>
                <a:spcPct val="100000"/>
              </a:lnSpc>
              <a:spcBef>
                <a:spcPct val="0"/>
              </a:spcBef>
              <a:buFontTx/>
              <a:buNone/>
            </a:pPr>
            <a:endParaRPr lang="es-ES" altLang="es-PE" sz="1800"/>
          </a:p>
          <a:p>
            <a:pPr>
              <a:lnSpc>
                <a:spcPct val="100000"/>
              </a:lnSpc>
              <a:spcBef>
                <a:spcPct val="0"/>
              </a:spcBef>
              <a:buFontTx/>
              <a:buNone/>
            </a:pPr>
            <a:r>
              <a:rPr lang="es-ES" altLang="es-PE" sz="1800"/>
              <a:t>Max z = 20x</a:t>
            </a:r>
            <a:r>
              <a:rPr lang="es-ES" altLang="es-PE" sz="1800" baseline="-25000"/>
              <a:t>1</a:t>
            </a:r>
            <a:r>
              <a:rPr lang="es-ES" altLang="es-PE" sz="1800"/>
              <a:t> + 16x</a:t>
            </a:r>
            <a:r>
              <a:rPr lang="es-ES" altLang="es-PE" sz="1800" baseline="-25000"/>
              <a:t>2</a:t>
            </a:r>
            <a:endParaRPr lang="es-PE" altLang="es-PE" sz="1800"/>
          </a:p>
          <a:p>
            <a:pPr>
              <a:lnSpc>
                <a:spcPct val="100000"/>
              </a:lnSpc>
              <a:spcBef>
                <a:spcPct val="0"/>
              </a:spcBef>
              <a:buFontTx/>
              <a:buNone/>
            </a:pPr>
            <a:r>
              <a:rPr lang="es-ES" altLang="es-PE" sz="1800"/>
              <a:t>Sujeto a:</a:t>
            </a:r>
            <a:endParaRPr lang="es-PE" altLang="es-PE" sz="1800"/>
          </a:p>
          <a:p>
            <a:pPr>
              <a:lnSpc>
                <a:spcPct val="100000"/>
              </a:lnSpc>
              <a:spcBef>
                <a:spcPct val="0"/>
              </a:spcBef>
              <a:buFontTx/>
              <a:buNone/>
            </a:pPr>
            <a:r>
              <a:rPr lang="es-ES" altLang="es-PE" sz="1800"/>
              <a:t>	  x</a:t>
            </a:r>
            <a:r>
              <a:rPr lang="es-ES" altLang="es-PE" sz="1800" baseline="-25000"/>
              <a:t>1</a:t>
            </a:r>
            <a:r>
              <a:rPr lang="es-ES" altLang="es-PE" sz="1800"/>
              <a:t> +  2x</a:t>
            </a:r>
            <a:r>
              <a:rPr lang="es-ES" altLang="es-PE" sz="1800" baseline="-25000"/>
              <a:t>2</a:t>
            </a:r>
            <a:r>
              <a:rPr lang="es-ES" altLang="es-PE" sz="1800"/>
              <a:t>  ≤   8		3x</a:t>
            </a:r>
            <a:r>
              <a:rPr lang="es-ES" altLang="es-PE" sz="1800" baseline="-25000"/>
              <a:t>1</a:t>
            </a:r>
            <a:r>
              <a:rPr lang="es-ES" altLang="es-PE" sz="1800"/>
              <a:t> +  2x</a:t>
            </a:r>
            <a:r>
              <a:rPr lang="es-ES" altLang="es-PE" sz="1800" baseline="-25000"/>
              <a:t>2</a:t>
            </a:r>
            <a:r>
              <a:rPr lang="es-ES" altLang="es-PE" sz="1800"/>
              <a:t>  ≤ 12		  x</a:t>
            </a:r>
            <a:r>
              <a:rPr lang="es-ES" altLang="es-PE" sz="1800" baseline="-25000"/>
              <a:t>1</a:t>
            </a:r>
            <a:r>
              <a:rPr lang="es-ES" altLang="es-PE" sz="1800"/>
              <a:t> ;     x</a:t>
            </a:r>
            <a:r>
              <a:rPr lang="es-ES" altLang="es-PE" sz="1800" baseline="-25000"/>
              <a:t>2</a:t>
            </a:r>
            <a:r>
              <a:rPr lang="es-ES" altLang="es-PE" sz="1800"/>
              <a:t>  ≥  0		</a:t>
            </a:r>
            <a:endParaRPr lang="es-PE" altLang="es-PE"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FC9B74FE-1DB2-7410-E4AF-C679E9A62DF3}"/>
              </a:ext>
            </a:extLst>
          </p:cNvPr>
          <p:cNvSpPr>
            <a:spLocks noGrp="1" noChangeArrowheads="1"/>
          </p:cNvSpPr>
          <p:nvPr>
            <p:ph type="title"/>
          </p:nvPr>
        </p:nvSpPr>
        <p:spPr>
          <a:xfrm>
            <a:off x="2444750" y="365125"/>
            <a:ext cx="8909050" cy="996950"/>
          </a:xfrm>
        </p:spPr>
        <p:txBody>
          <a:bodyPr/>
          <a:lstStyle/>
          <a:p>
            <a:r>
              <a:rPr lang="es-PE" altLang="es-PE"/>
              <a:t>Ejemplo 02:</a:t>
            </a:r>
          </a:p>
        </p:txBody>
      </p:sp>
      <p:sp>
        <p:nvSpPr>
          <p:cNvPr id="17411" name="Marcador de contenido 2">
            <a:extLst>
              <a:ext uri="{FF2B5EF4-FFF2-40B4-BE49-F238E27FC236}">
                <a16:creationId xmlns:a16="http://schemas.microsoft.com/office/drawing/2014/main" id="{29ADABA1-4E72-C719-9CA2-90B8362CEC29}"/>
              </a:ext>
            </a:extLst>
          </p:cNvPr>
          <p:cNvSpPr>
            <a:spLocks noGrp="1" noChangeArrowheads="1"/>
          </p:cNvSpPr>
          <p:nvPr>
            <p:ph idx="1"/>
          </p:nvPr>
        </p:nvSpPr>
        <p:spPr>
          <a:xfrm>
            <a:off x="7004050" y="1690688"/>
            <a:ext cx="4471988" cy="4351337"/>
          </a:xfrm>
        </p:spPr>
        <p:txBody>
          <a:bodyPr/>
          <a:lstStyle/>
          <a:p>
            <a:pPr marL="0" indent="0">
              <a:buFont typeface="Arial" panose="020B0604020202020204" pitchFamily="34" charset="0"/>
              <a:buNone/>
            </a:pPr>
            <a:r>
              <a:rPr lang="es-PE" altLang="es-PE"/>
              <a:t>	Maximizar z = 5x</a:t>
            </a:r>
            <a:r>
              <a:rPr lang="es-PE" altLang="es-PE" baseline="-25000"/>
              <a:t>1</a:t>
            </a:r>
            <a:r>
              <a:rPr lang="es-PE" altLang="es-PE"/>
              <a:t> + 6x</a:t>
            </a:r>
            <a:r>
              <a:rPr lang="es-PE" altLang="es-PE" baseline="-25000"/>
              <a:t>2</a:t>
            </a:r>
            <a:r>
              <a:rPr lang="es-PE" altLang="es-PE"/>
              <a:t> </a:t>
            </a:r>
          </a:p>
          <a:p>
            <a:pPr marL="0" indent="0">
              <a:buFont typeface="Arial" panose="020B0604020202020204" pitchFamily="34" charset="0"/>
              <a:buNone/>
            </a:pPr>
            <a:r>
              <a:rPr lang="es-PE" altLang="es-PE"/>
              <a:t>	Sujeto a: </a:t>
            </a:r>
          </a:p>
          <a:p>
            <a:pPr marL="0" indent="0">
              <a:buFont typeface="Arial" panose="020B0604020202020204" pitchFamily="34" charset="0"/>
              <a:buNone/>
            </a:pPr>
            <a:r>
              <a:rPr lang="es-PE" altLang="es-PE"/>
              <a:t>		2x</a:t>
            </a:r>
            <a:r>
              <a:rPr lang="es-PE" altLang="es-PE" baseline="-25000"/>
              <a:t>1</a:t>
            </a:r>
            <a:r>
              <a:rPr lang="es-PE" altLang="es-PE"/>
              <a:t> + 3x</a:t>
            </a:r>
            <a:r>
              <a:rPr lang="es-PE" altLang="es-PE" baseline="-25000"/>
              <a:t>2</a:t>
            </a:r>
            <a:r>
              <a:rPr lang="es-PE" altLang="es-PE"/>
              <a:t> ≤ 252 </a:t>
            </a:r>
          </a:p>
          <a:p>
            <a:pPr marL="0" indent="0">
              <a:buFont typeface="Arial" panose="020B0604020202020204" pitchFamily="34" charset="0"/>
              <a:buNone/>
            </a:pPr>
            <a:r>
              <a:rPr lang="es-PE" altLang="es-PE"/>
              <a:t>		4x</a:t>
            </a:r>
            <a:r>
              <a:rPr lang="es-PE" altLang="es-PE" baseline="-25000"/>
              <a:t>1</a:t>
            </a:r>
            <a:r>
              <a:rPr lang="es-PE" altLang="es-PE"/>
              <a:t> + 3x</a:t>
            </a:r>
            <a:r>
              <a:rPr lang="es-PE" altLang="es-PE" baseline="-25000"/>
              <a:t>2</a:t>
            </a:r>
            <a:r>
              <a:rPr lang="es-PE" altLang="es-PE"/>
              <a:t> ≤ 336 </a:t>
            </a:r>
          </a:p>
          <a:p>
            <a:pPr marL="0" indent="0">
              <a:buFont typeface="Arial" panose="020B0604020202020204" pitchFamily="34" charset="0"/>
              <a:buNone/>
            </a:pPr>
            <a:r>
              <a:rPr lang="es-PE" altLang="es-PE"/>
              <a:t>		1x</a:t>
            </a:r>
            <a:r>
              <a:rPr lang="es-PE" altLang="es-PE" baseline="-25000"/>
              <a:t>1</a:t>
            </a:r>
            <a:r>
              <a:rPr lang="es-PE" altLang="es-PE"/>
              <a:t> + 1x</a:t>
            </a:r>
            <a:r>
              <a:rPr lang="es-PE" altLang="es-PE" baseline="-25000"/>
              <a:t>2</a:t>
            </a:r>
            <a:r>
              <a:rPr lang="es-PE" altLang="es-PE"/>
              <a:t> ≤ 90 </a:t>
            </a:r>
          </a:p>
          <a:p>
            <a:pPr marL="0" indent="0">
              <a:buFont typeface="Arial" panose="020B0604020202020204" pitchFamily="34" charset="0"/>
              <a:buNone/>
            </a:pPr>
            <a:r>
              <a:rPr lang="es-PE" altLang="es-PE"/>
              <a:t>		x</a:t>
            </a:r>
            <a:r>
              <a:rPr lang="es-PE" altLang="es-PE" baseline="-25000"/>
              <a:t>1</a:t>
            </a:r>
            <a:r>
              <a:rPr lang="es-PE" altLang="es-PE"/>
              <a:t> ; x</a:t>
            </a:r>
            <a:r>
              <a:rPr lang="es-PE" altLang="es-PE" baseline="-25000"/>
              <a:t>2</a:t>
            </a:r>
            <a:r>
              <a:rPr lang="es-PE" altLang="es-PE"/>
              <a:t> ≥ 0 </a:t>
            </a:r>
          </a:p>
        </p:txBody>
      </p:sp>
      <p:sp>
        <p:nvSpPr>
          <p:cNvPr id="17412" name="Rectangle 1">
            <a:extLst>
              <a:ext uri="{FF2B5EF4-FFF2-40B4-BE49-F238E27FC236}">
                <a16:creationId xmlns:a16="http://schemas.microsoft.com/office/drawing/2014/main" id="{A8A47443-069C-98B6-39F6-132600564683}"/>
              </a:ext>
            </a:extLst>
          </p:cNvPr>
          <p:cNvSpPr>
            <a:spLocks noChangeArrowheads="1"/>
          </p:cNvSpPr>
          <p:nvPr/>
        </p:nvSpPr>
        <p:spPr bwMode="auto">
          <a:xfrm>
            <a:off x="383560" y="1362075"/>
            <a:ext cx="7129463"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s-PE" altLang="es-PE" sz="2400" dirty="0"/>
              <a:t>Una empresa que fabrica sillas y mesas dispone de 252 listones de madera y 336 horas  – hombre para la elaboración de sus dos productos (por mes). Para elaborar una silla se requiere de 2 listones y 4 horas – hombre mientras que para elaborar una mesa se requieren de 3 listones y 3 horas – hombre. La cantidad de productos que se puede elaborar por mes es de un máximo de 90 entre sillas y mesas. El beneficio que se obtiene con una silla es de 5 soles y con una mesa es de 6 soles. ¿Cuántas unidades de cada producto se deben fabricar para obtener el máximo beneficio? ¿Cuánto es este máximo beneficio?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4A86E7F9-BFAB-2EE4-9753-98C25F904FD9}"/>
              </a:ext>
            </a:extLst>
          </p:cNvPr>
          <p:cNvSpPr>
            <a:spLocks noGrp="1"/>
          </p:cNvSpPr>
          <p:nvPr>
            <p:ph idx="1"/>
          </p:nvPr>
        </p:nvSpPr>
        <p:spPr>
          <a:xfrm>
            <a:off x="7156450" y="1517650"/>
            <a:ext cx="4616450" cy="4351338"/>
          </a:xfrm>
        </p:spPr>
        <p:txBody>
          <a:bodyPr>
            <a:normAutofit/>
          </a:bodyPr>
          <a:lstStyle/>
          <a:p>
            <a:pPr marL="0" indent="0">
              <a:buFont typeface="Arial" panose="020B0604020202020204" pitchFamily="34" charset="0"/>
              <a:buNone/>
              <a:defRPr/>
            </a:pPr>
            <a:r>
              <a:rPr lang="es-PE" dirty="0"/>
              <a:t>Max Z = 12x</a:t>
            </a:r>
            <a:r>
              <a:rPr lang="es-PE" baseline="-25000" dirty="0"/>
              <a:t>1</a:t>
            </a:r>
            <a:r>
              <a:rPr lang="es-PE" dirty="0"/>
              <a:t> + 10x</a:t>
            </a:r>
            <a:r>
              <a:rPr lang="es-PE" baseline="-25000" dirty="0"/>
              <a:t>2</a:t>
            </a:r>
            <a:endParaRPr lang="es-PE" dirty="0"/>
          </a:p>
          <a:p>
            <a:pPr marL="0" indent="0">
              <a:buFont typeface="Arial" panose="020B0604020202020204" pitchFamily="34" charset="0"/>
              <a:buNone/>
              <a:defRPr/>
            </a:pPr>
            <a:r>
              <a:rPr lang="es-PE" dirty="0"/>
              <a:t>Sujeta a:</a:t>
            </a:r>
          </a:p>
          <a:p>
            <a:pPr marL="0" indent="0">
              <a:buFont typeface="Arial" panose="020B0604020202020204" pitchFamily="34" charset="0"/>
              <a:buNone/>
              <a:defRPr/>
            </a:pPr>
            <a:r>
              <a:rPr lang="es-PE" dirty="0"/>
              <a:t>	2x</a:t>
            </a:r>
            <a:r>
              <a:rPr lang="es-PE" baseline="-25000" dirty="0"/>
              <a:t>1</a:t>
            </a:r>
            <a:r>
              <a:rPr lang="es-PE" dirty="0"/>
              <a:t> + 1x</a:t>
            </a:r>
            <a:r>
              <a:rPr lang="es-PE" baseline="-25000" dirty="0"/>
              <a:t>2</a:t>
            </a:r>
            <a:r>
              <a:rPr lang="es-PE" dirty="0"/>
              <a:t> &lt;= 90</a:t>
            </a:r>
          </a:p>
          <a:p>
            <a:pPr marL="0" indent="0">
              <a:buFont typeface="Arial" panose="020B0604020202020204" pitchFamily="34" charset="0"/>
              <a:buNone/>
              <a:defRPr/>
            </a:pPr>
            <a:r>
              <a:rPr lang="es-PE" dirty="0"/>
              <a:t>	1x</a:t>
            </a:r>
            <a:r>
              <a:rPr lang="es-PE" baseline="-25000" dirty="0"/>
              <a:t>1</a:t>
            </a:r>
            <a:r>
              <a:rPr lang="es-PE" dirty="0"/>
              <a:t> + 2x</a:t>
            </a:r>
            <a:r>
              <a:rPr lang="es-PE" baseline="-25000" dirty="0"/>
              <a:t>2</a:t>
            </a:r>
            <a:r>
              <a:rPr lang="es-PE" dirty="0"/>
              <a:t> &lt;= 80	</a:t>
            </a:r>
          </a:p>
          <a:p>
            <a:pPr marL="0" indent="0">
              <a:buFont typeface="Arial" panose="020B0604020202020204" pitchFamily="34" charset="0"/>
              <a:buNone/>
              <a:defRPr/>
            </a:pPr>
            <a:r>
              <a:rPr lang="es-PE" dirty="0"/>
              <a:t>	1x</a:t>
            </a:r>
            <a:r>
              <a:rPr lang="es-PE" baseline="-25000" dirty="0"/>
              <a:t>1</a:t>
            </a:r>
            <a:r>
              <a:rPr lang="es-PE" dirty="0"/>
              <a:t> + 1x</a:t>
            </a:r>
            <a:r>
              <a:rPr lang="es-PE" baseline="-25000" dirty="0"/>
              <a:t>2</a:t>
            </a:r>
            <a:r>
              <a:rPr lang="es-PE" dirty="0"/>
              <a:t> &lt;= 50</a:t>
            </a:r>
          </a:p>
          <a:p>
            <a:pPr marL="0" indent="0">
              <a:buFont typeface="Arial" panose="020B0604020202020204" pitchFamily="34" charset="0"/>
              <a:buNone/>
              <a:defRPr/>
            </a:pPr>
            <a:r>
              <a:rPr lang="es-PE" dirty="0"/>
              <a:t>              x</a:t>
            </a:r>
            <a:r>
              <a:rPr lang="es-PE" baseline="-25000" dirty="0"/>
              <a:t>1</a:t>
            </a:r>
            <a:r>
              <a:rPr lang="es-PE" dirty="0"/>
              <a:t>,     x</a:t>
            </a:r>
            <a:r>
              <a:rPr lang="es-PE" baseline="-25000" dirty="0"/>
              <a:t>2</a:t>
            </a:r>
            <a:r>
              <a:rPr lang="es-PE" dirty="0"/>
              <a:t> &gt;= 0</a:t>
            </a:r>
          </a:p>
          <a:p>
            <a:pPr>
              <a:defRPr/>
            </a:pPr>
            <a:endParaRPr lang="es-PE" dirty="0"/>
          </a:p>
        </p:txBody>
      </p:sp>
      <p:sp>
        <p:nvSpPr>
          <p:cNvPr id="18435" name="Título 2">
            <a:extLst>
              <a:ext uri="{FF2B5EF4-FFF2-40B4-BE49-F238E27FC236}">
                <a16:creationId xmlns:a16="http://schemas.microsoft.com/office/drawing/2014/main" id="{C3B04882-AF5A-E52C-7F3D-09B42918B6B9}"/>
              </a:ext>
            </a:extLst>
          </p:cNvPr>
          <p:cNvSpPr>
            <a:spLocks noGrp="1" noChangeArrowheads="1"/>
          </p:cNvSpPr>
          <p:nvPr>
            <p:ph type="title"/>
          </p:nvPr>
        </p:nvSpPr>
        <p:spPr>
          <a:xfrm>
            <a:off x="2260600" y="365125"/>
            <a:ext cx="9093200" cy="1025525"/>
          </a:xfrm>
        </p:spPr>
        <p:txBody>
          <a:bodyPr/>
          <a:lstStyle/>
          <a:p>
            <a:r>
              <a:rPr lang="es-PE" altLang="es-PE"/>
              <a:t>Ejemplo 03:</a:t>
            </a:r>
          </a:p>
        </p:txBody>
      </p:sp>
      <p:sp>
        <p:nvSpPr>
          <p:cNvPr id="18436" name="Rectangle 1">
            <a:extLst>
              <a:ext uri="{FF2B5EF4-FFF2-40B4-BE49-F238E27FC236}">
                <a16:creationId xmlns:a16="http://schemas.microsoft.com/office/drawing/2014/main" id="{B509F8C0-D59B-CF27-222F-076D7B268207}"/>
              </a:ext>
            </a:extLst>
          </p:cNvPr>
          <p:cNvSpPr>
            <a:spLocks noChangeArrowheads="1"/>
          </p:cNvSpPr>
          <p:nvPr/>
        </p:nvSpPr>
        <p:spPr bwMode="auto">
          <a:xfrm>
            <a:off x="763588" y="1517650"/>
            <a:ext cx="5754687" cy="489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s-PE" altLang="es-PE" sz="2400" dirty="0"/>
              <a:t>Un criador de gatos tiene las siguientes cantidades de alimentos para gatos: 90 unidades de atún, 80 unidades de hígado y 50 unidades de pollo. Para criar un gato siamés se requieren 2 unidades de atún, 1 de hígado y 1 de pollo por día, mientras que para un gato persa se requieren 1, 2 y 1 unidades respectivamente, por día. Si un gato siamés se vende en US$ 12 y un gato persa se vende en US$ 10, ¿Cuántos de cada uno deben criarse para obtener un ingreso total máximo? ¿Cuánto es el ingreso total máximo?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319D1DDA-0259-AF49-47DB-1942B08E0056}"/>
              </a:ext>
            </a:extLst>
          </p:cNvPr>
          <p:cNvSpPr>
            <a:spLocks noGrp="1"/>
          </p:cNvSpPr>
          <p:nvPr>
            <p:ph idx="1"/>
          </p:nvPr>
        </p:nvSpPr>
        <p:spPr>
          <a:xfrm>
            <a:off x="6096000" y="1493838"/>
            <a:ext cx="5213350" cy="4351337"/>
          </a:xfrm>
        </p:spPr>
        <p:txBody>
          <a:bodyPr/>
          <a:lstStyle/>
          <a:p>
            <a:pPr marL="0" indent="0">
              <a:buFont typeface="Arial" panose="020B0604020202020204" pitchFamily="34" charset="0"/>
              <a:buNone/>
              <a:defRPr/>
            </a:pPr>
            <a:r>
              <a:rPr lang="es-ES" dirty="0"/>
              <a:t>	Max Z = 50 X</a:t>
            </a:r>
            <a:r>
              <a:rPr lang="es-ES" baseline="-25000" dirty="0"/>
              <a:t>1</a:t>
            </a:r>
            <a:r>
              <a:rPr lang="es-ES" dirty="0"/>
              <a:t> + 40 X</a:t>
            </a:r>
            <a:r>
              <a:rPr lang="es-ES" baseline="-25000" dirty="0"/>
              <a:t>2</a:t>
            </a:r>
            <a:endParaRPr lang="es-PE" dirty="0"/>
          </a:p>
          <a:p>
            <a:pPr marL="0" indent="0">
              <a:buFont typeface="Arial" panose="020B0604020202020204" pitchFamily="34" charset="0"/>
              <a:buNone/>
              <a:defRPr/>
            </a:pPr>
            <a:r>
              <a:rPr lang="es-ES" dirty="0"/>
              <a:t>        		</a:t>
            </a:r>
            <a:r>
              <a:rPr lang="es-ES" dirty="0" err="1"/>
              <a:t>s.a</a:t>
            </a:r>
            <a:r>
              <a:rPr lang="es-ES" dirty="0"/>
              <a:t>:</a:t>
            </a:r>
            <a:endParaRPr lang="es-PE" dirty="0"/>
          </a:p>
          <a:p>
            <a:pPr marL="0" indent="0">
              <a:buFont typeface="Arial" panose="020B0604020202020204" pitchFamily="34" charset="0"/>
              <a:buNone/>
              <a:defRPr/>
            </a:pPr>
            <a:r>
              <a:rPr lang="es-ES" dirty="0"/>
              <a:t>		    X</a:t>
            </a:r>
            <a:r>
              <a:rPr lang="es-ES" baseline="-25000" dirty="0"/>
              <a:t>1</a:t>
            </a:r>
            <a:r>
              <a:rPr lang="es-ES" dirty="0"/>
              <a:t> + 1,5 X</a:t>
            </a:r>
            <a:r>
              <a:rPr lang="es-ES" baseline="-25000" dirty="0"/>
              <a:t>2</a:t>
            </a:r>
            <a:r>
              <a:rPr lang="es-ES" dirty="0"/>
              <a:t>   ≤ 750</a:t>
            </a:r>
            <a:endParaRPr lang="es-PE" dirty="0"/>
          </a:p>
          <a:p>
            <a:pPr marL="0" indent="0">
              <a:buFont typeface="Arial" panose="020B0604020202020204" pitchFamily="34" charset="0"/>
              <a:buNone/>
              <a:defRPr/>
            </a:pPr>
            <a:r>
              <a:rPr lang="es-ES" dirty="0"/>
              <a:t>		2 X</a:t>
            </a:r>
            <a:r>
              <a:rPr lang="es-ES" baseline="-25000" dirty="0"/>
              <a:t>1</a:t>
            </a:r>
            <a:r>
              <a:rPr lang="es-ES" dirty="0"/>
              <a:t> +       X</a:t>
            </a:r>
            <a:r>
              <a:rPr lang="es-ES" baseline="-25000" dirty="0"/>
              <a:t>2</a:t>
            </a:r>
            <a:r>
              <a:rPr lang="es-ES" dirty="0"/>
              <a:t>  ≤ 1000</a:t>
            </a:r>
            <a:endParaRPr lang="es-PE" dirty="0"/>
          </a:p>
          <a:p>
            <a:pPr marL="0" indent="0">
              <a:buFont typeface="Arial" panose="020B0604020202020204" pitchFamily="34" charset="0"/>
              <a:buNone/>
              <a:defRPr/>
            </a:pPr>
            <a:r>
              <a:rPr lang="es-ES" dirty="0"/>
              <a:t>		    X</a:t>
            </a:r>
            <a:r>
              <a:rPr lang="es-ES" baseline="-25000" dirty="0"/>
              <a:t>1</a:t>
            </a:r>
            <a:r>
              <a:rPr lang="es-ES" dirty="0"/>
              <a:t> ;       X</a:t>
            </a:r>
            <a:r>
              <a:rPr lang="es-ES" baseline="-25000" dirty="0"/>
              <a:t>2</a:t>
            </a:r>
            <a:r>
              <a:rPr lang="es-ES" dirty="0"/>
              <a:t>  ≥ 0</a:t>
            </a:r>
            <a:endParaRPr lang="es-PE" dirty="0"/>
          </a:p>
          <a:p>
            <a:pPr>
              <a:defRPr/>
            </a:pPr>
            <a:endParaRPr lang="es-PE" dirty="0"/>
          </a:p>
        </p:txBody>
      </p:sp>
      <p:sp>
        <p:nvSpPr>
          <p:cNvPr id="19459" name="Título 2">
            <a:extLst>
              <a:ext uri="{FF2B5EF4-FFF2-40B4-BE49-F238E27FC236}">
                <a16:creationId xmlns:a16="http://schemas.microsoft.com/office/drawing/2014/main" id="{6A1649F2-80AD-0EA9-392A-9544D0223FB0}"/>
              </a:ext>
            </a:extLst>
          </p:cNvPr>
          <p:cNvSpPr>
            <a:spLocks noGrp="1" noChangeArrowheads="1"/>
          </p:cNvSpPr>
          <p:nvPr>
            <p:ph type="title"/>
          </p:nvPr>
        </p:nvSpPr>
        <p:spPr>
          <a:xfrm>
            <a:off x="2178050" y="365125"/>
            <a:ext cx="9175750" cy="1025525"/>
          </a:xfrm>
        </p:spPr>
        <p:txBody>
          <a:bodyPr/>
          <a:lstStyle/>
          <a:p>
            <a:r>
              <a:rPr lang="es-PE" altLang="es-PE"/>
              <a:t>Ejemplo 04:</a:t>
            </a:r>
          </a:p>
        </p:txBody>
      </p:sp>
      <p:sp>
        <p:nvSpPr>
          <p:cNvPr id="4" name="Marcador de contenido 5">
            <a:extLst>
              <a:ext uri="{FF2B5EF4-FFF2-40B4-BE49-F238E27FC236}">
                <a16:creationId xmlns:a16="http://schemas.microsoft.com/office/drawing/2014/main" id="{0E123EEA-AA8E-BF64-84F5-EC4C34417730}"/>
              </a:ext>
            </a:extLst>
          </p:cNvPr>
          <p:cNvSpPr txBox="1">
            <a:spLocks/>
          </p:cNvSpPr>
          <p:nvPr/>
        </p:nvSpPr>
        <p:spPr>
          <a:xfrm>
            <a:off x="569913" y="1497013"/>
            <a:ext cx="5940425" cy="435133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defRPr/>
            </a:pPr>
            <a:r>
              <a:rPr lang="es-PE" sz="2400" dirty="0"/>
              <a:t>Unos grandes almacenes encargan a un fabricante la elaboración de pantalones y chaquetas deportivas. El fabricante dispone para la confección de 750 m de tejido de algodón y 1000 m de tejido de poliéster. Cada pantalón precisa 1 m de algodón y 2 m de poliéster. Para cada chaqueta se necesitan 1.5 m de algodón y 1 m de poliéster. El precio del pantalón se fija en 50 dólares y el de la chaqueta deportiva en 40 dólares. ¿Qué número de pantalones y chaquetas debe suministrar el fabricante a los almacenes para que éstos consigan una venta máxima?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ABAAB854-CBF7-15E9-B023-8AC8834CC2A4}"/>
              </a:ext>
            </a:extLst>
          </p:cNvPr>
          <p:cNvSpPr>
            <a:spLocks noGrp="1"/>
          </p:cNvSpPr>
          <p:nvPr>
            <p:ph idx="1"/>
          </p:nvPr>
        </p:nvSpPr>
        <p:spPr>
          <a:xfrm>
            <a:off x="838200" y="1352550"/>
            <a:ext cx="6100763" cy="4351338"/>
          </a:xfrm>
        </p:spPr>
        <p:txBody>
          <a:bodyPr>
            <a:normAutofit lnSpcReduction="10000"/>
          </a:bodyPr>
          <a:lstStyle/>
          <a:p>
            <a:pPr marL="0" indent="0" algn="just">
              <a:buFont typeface="Arial" panose="020B0604020202020204" pitchFamily="34" charset="0"/>
              <a:buNone/>
              <a:defRPr/>
            </a:pPr>
            <a:r>
              <a:rPr lang="es-ES" dirty="0"/>
              <a:t>Una compañía fabrica y vende dos modelos de lámparas: L</a:t>
            </a:r>
            <a:r>
              <a:rPr lang="es-ES" baseline="-25000" dirty="0"/>
              <a:t>1</a:t>
            </a:r>
            <a:r>
              <a:rPr lang="es-ES" dirty="0"/>
              <a:t> y L</a:t>
            </a:r>
            <a:r>
              <a:rPr lang="es-ES" baseline="-25000" dirty="0"/>
              <a:t>2</a:t>
            </a:r>
            <a:r>
              <a:rPr lang="es-ES" dirty="0"/>
              <a:t>. Para su fabricación se necesita un trabajo manual de 20 minutos para el modelo L</a:t>
            </a:r>
            <a:r>
              <a:rPr lang="es-ES" baseline="-25000" dirty="0"/>
              <a:t>1</a:t>
            </a:r>
            <a:r>
              <a:rPr lang="es-ES" dirty="0"/>
              <a:t> y de 30 minutos para el L</a:t>
            </a:r>
            <a:r>
              <a:rPr lang="es-ES" baseline="-25000" dirty="0"/>
              <a:t>2</a:t>
            </a:r>
            <a:r>
              <a:rPr lang="es-ES" dirty="0"/>
              <a:t>; y un trabajo de máquina de 15 minutos para L</a:t>
            </a:r>
            <a:r>
              <a:rPr lang="es-ES" baseline="-25000" dirty="0"/>
              <a:t>1</a:t>
            </a:r>
            <a:r>
              <a:rPr lang="es-ES" dirty="0"/>
              <a:t> y de 10 minutos para L</a:t>
            </a:r>
            <a:r>
              <a:rPr lang="es-ES" baseline="-25000" dirty="0"/>
              <a:t>2</a:t>
            </a:r>
            <a:r>
              <a:rPr lang="es-ES" dirty="0"/>
              <a:t>. Se dispone para el trabajo manual de 100 horas al mes y para la máquina 40 horas al mes. No se pueden fabricar más de 60 lámparas del tipo L</a:t>
            </a:r>
            <a:r>
              <a:rPr lang="es-ES" baseline="-25000" dirty="0"/>
              <a:t>1</a:t>
            </a:r>
            <a:r>
              <a:rPr lang="es-ES" dirty="0"/>
              <a:t>. Sabiendo que el beneficio por unidad es de 15 y 10 soles para L</a:t>
            </a:r>
            <a:r>
              <a:rPr lang="es-ES" baseline="-25000" dirty="0"/>
              <a:t>1</a:t>
            </a:r>
            <a:r>
              <a:rPr lang="es-ES" dirty="0"/>
              <a:t> y L</a:t>
            </a:r>
            <a:r>
              <a:rPr lang="es-ES" baseline="-25000" dirty="0"/>
              <a:t>2</a:t>
            </a:r>
            <a:r>
              <a:rPr lang="es-ES" dirty="0"/>
              <a:t> respectivamente, planifique la producción para obtener el máximo beneficio. </a:t>
            </a:r>
            <a:endParaRPr lang="es-PE" dirty="0"/>
          </a:p>
          <a:p>
            <a:pPr>
              <a:defRPr/>
            </a:pPr>
            <a:endParaRPr lang="es-PE" dirty="0"/>
          </a:p>
        </p:txBody>
      </p:sp>
      <p:sp>
        <p:nvSpPr>
          <p:cNvPr id="20483" name="Título 2">
            <a:extLst>
              <a:ext uri="{FF2B5EF4-FFF2-40B4-BE49-F238E27FC236}">
                <a16:creationId xmlns:a16="http://schemas.microsoft.com/office/drawing/2014/main" id="{1B5E9288-DE2D-77BE-5A58-C96D0D14CAC7}"/>
              </a:ext>
            </a:extLst>
          </p:cNvPr>
          <p:cNvSpPr>
            <a:spLocks noGrp="1" noChangeArrowheads="1"/>
          </p:cNvSpPr>
          <p:nvPr>
            <p:ph type="title"/>
          </p:nvPr>
        </p:nvSpPr>
        <p:spPr>
          <a:xfrm>
            <a:off x="2290763" y="365125"/>
            <a:ext cx="9063037" cy="987425"/>
          </a:xfrm>
        </p:spPr>
        <p:txBody>
          <a:bodyPr/>
          <a:lstStyle/>
          <a:p>
            <a:r>
              <a:rPr lang="es-PE" altLang="es-PE"/>
              <a:t>Ejemplo 05:</a:t>
            </a:r>
          </a:p>
        </p:txBody>
      </p:sp>
      <p:sp>
        <p:nvSpPr>
          <p:cNvPr id="6" name="Marcador de contenido 1">
            <a:extLst>
              <a:ext uri="{FF2B5EF4-FFF2-40B4-BE49-F238E27FC236}">
                <a16:creationId xmlns:a16="http://schemas.microsoft.com/office/drawing/2014/main" id="{DB1649D5-E24B-74E4-48DC-3DB2C247E006}"/>
              </a:ext>
            </a:extLst>
          </p:cNvPr>
          <p:cNvSpPr txBox="1">
            <a:spLocks/>
          </p:cNvSpPr>
          <p:nvPr/>
        </p:nvSpPr>
        <p:spPr>
          <a:xfrm>
            <a:off x="7216877" y="1517650"/>
            <a:ext cx="4556023"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s-PE" dirty="0"/>
              <a:t>Max Z = 15x</a:t>
            </a:r>
            <a:r>
              <a:rPr lang="es-PE" baseline="-25000" dirty="0"/>
              <a:t>1</a:t>
            </a:r>
            <a:r>
              <a:rPr lang="es-PE" dirty="0"/>
              <a:t> + 10x</a:t>
            </a:r>
            <a:r>
              <a:rPr lang="es-PE" baseline="-25000" dirty="0"/>
              <a:t>2</a:t>
            </a:r>
            <a:endParaRPr lang="es-PE" dirty="0"/>
          </a:p>
          <a:p>
            <a:pPr marL="0" indent="0">
              <a:buFont typeface="Arial" panose="020B0604020202020204" pitchFamily="34" charset="0"/>
              <a:buNone/>
              <a:defRPr/>
            </a:pPr>
            <a:r>
              <a:rPr lang="es-PE" dirty="0"/>
              <a:t>Sujeta a:</a:t>
            </a:r>
          </a:p>
          <a:p>
            <a:pPr marL="0" indent="0">
              <a:buFont typeface="Arial" panose="020B0604020202020204" pitchFamily="34" charset="0"/>
              <a:buNone/>
              <a:defRPr/>
            </a:pPr>
            <a:r>
              <a:rPr lang="es-PE" dirty="0"/>
              <a:t>	20x</a:t>
            </a:r>
            <a:r>
              <a:rPr lang="es-PE" baseline="-25000" dirty="0"/>
              <a:t>1</a:t>
            </a:r>
            <a:r>
              <a:rPr lang="es-PE" dirty="0"/>
              <a:t> + 30x</a:t>
            </a:r>
            <a:r>
              <a:rPr lang="es-PE" baseline="-25000" dirty="0"/>
              <a:t>2</a:t>
            </a:r>
            <a:r>
              <a:rPr lang="es-PE" dirty="0"/>
              <a:t> &lt;= 6000</a:t>
            </a:r>
          </a:p>
          <a:p>
            <a:pPr marL="0" indent="0">
              <a:buFont typeface="Arial" panose="020B0604020202020204" pitchFamily="34" charset="0"/>
              <a:buNone/>
              <a:defRPr/>
            </a:pPr>
            <a:r>
              <a:rPr lang="es-PE" dirty="0"/>
              <a:t>	15x</a:t>
            </a:r>
            <a:r>
              <a:rPr lang="es-PE" baseline="-25000" dirty="0"/>
              <a:t>1</a:t>
            </a:r>
            <a:r>
              <a:rPr lang="es-PE" dirty="0"/>
              <a:t> + 10x</a:t>
            </a:r>
            <a:r>
              <a:rPr lang="es-PE" baseline="-25000" dirty="0"/>
              <a:t>2</a:t>
            </a:r>
            <a:r>
              <a:rPr lang="es-PE" dirty="0"/>
              <a:t> &lt;= 2400</a:t>
            </a:r>
          </a:p>
          <a:p>
            <a:pPr marL="0" indent="0">
              <a:buFont typeface="Arial" panose="020B0604020202020204" pitchFamily="34" charset="0"/>
              <a:buNone/>
              <a:defRPr/>
            </a:pPr>
            <a:r>
              <a:rPr lang="es-PE" dirty="0"/>
              <a:t>	1x</a:t>
            </a:r>
            <a:r>
              <a:rPr lang="es-PE" baseline="-25000" dirty="0"/>
              <a:t>1</a:t>
            </a:r>
            <a:r>
              <a:rPr lang="es-PE" dirty="0"/>
              <a:t>                &lt;= 60</a:t>
            </a:r>
          </a:p>
          <a:p>
            <a:pPr marL="0" indent="0">
              <a:buFont typeface="Arial" panose="020B0604020202020204" pitchFamily="34" charset="0"/>
              <a:buNone/>
              <a:defRPr/>
            </a:pPr>
            <a:r>
              <a:rPr lang="es-PE" dirty="0"/>
              <a:t>              x</a:t>
            </a:r>
            <a:r>
              <a:rPr lang="es-PE" baseline="-25000" dirty="0"/>
              <a:t>1</a:t>
            </a:r>
            <a:r>
              <a:rPr lang="es-PE" dirty="0"/>
              <a:t>,     x</a:t>
            </a:r>
            <a:r>
              <a:rPr lang="es-PE" baseline="-25000" dirty="0"/>
              <a:t>2</a:t>
            </a:r>
            <a:r>
              <a:rPr lang="es-PE" dirty="0"/>
              <a:t> &gt;= 0</a:t>
            </a:r>
          </a:p>
          <a:p>
            <a:pPr>
              <a:defRPr/>
            </a:pPr>
            <a:endParaRPr lang="es-P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8F0EF69F-EF1D-CC0B-1D42-4C4A8EFB4E9E}"/>
              </a:ext>
            </a:extLst>
          </p:cNvPr>
          <p:cNvSpPr txBox="1"/>
          <p:nvPr/>
        </p:nvSpPr>
        <p:spPr>
          <a:xfrm>
            <a:off x="1003300" y="2484438"/>
            <a:ext cx="10493375" cy="954087"/>
          </a:xfrm>
          <a:prstGeom prst="rect">
            <a:avLst/>
          </a:prstGeom>
          <a:noFill/>
        </p:spPr>
        <p:txBody>
          <a:bodyPr>
            <a:spAutoFit/>
          </a:bodyPr>
          <a:lstStyle/>
          <a:p>
            <a:pPr eaLnBrk="1" fontAlgn="auto" hangingPunct="1">
              <a:spcBef>
                <a:spcPts val="0"/>
              </a:spcBef>
              <a:spcAft>
                <a:spcPts val="0"/>
              </a:spcAft>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Resumen de lo aprendido</a:t>
            </a:r>
          </a:p>
          <a:p>
            <a:pPr eaLnBrk="1" fontAlgn="auto" hangingPunct="1">
              <a:spcBef>
                <a:spcPts val="0"/>
              </a:spcBef>
              <a:spcAft>
                <a:spcPts val="0"/>
              </a:spcAft>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Campos de aplicación - ejercicios.</a:t>
            </a:r>
          </a:p>
        </p:txBody>
      </p:sp>
      <p:sp>
        <p:nvSpPr>
          <p:cNvPr id="21507" name="Shape 123">
            <a:extLst>
              <a:ext uri="{FF2B5EF4-FFF2-40B4-BE49-F238E27FC236}">
                <a16:creationId xmlns:a16="http://schemas.microsoft.com/office/drawing/2014/main" id="{A0F3760E-0C33-8BEC-6E8E-C28542FD676A}"/>
              </a:ext>
            </a:extLst>
          </p:cNvPr>
          <p:cNvSpPr>
            <a:spLocks noChangeArrowheads="1"/>
          </p:cNvSpPr>
          <p:nvPr/>
        </p:nvSpPr>
        <p:spPr bwMode="auto">
          <a:xfrm>
            <a:off x="2107688" y="365227"/>
            <a:ext cx="49323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dirty="0">
                <a:latin typeface="Neue Plak SemiBold" pitchFamily="34" charset="0"/>
                <a:cs typeface="Neue Plak" pitchFamily="34" charset="0"/>
              </a:rPr>
              <a:t>Actividades de cierre:</a:t>
            </a:r>
            <a:endParaRPr lang="es-PE" altLang="es-PE" sz="4000" b="1" dirty="0">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1ABF5602-156F-6086-769E-B30FABA32AF6}"/>
              </a:ext>
            </a:extLst>
          </p:cNvPr>
          <p:cNvSpPr txBox="1"/>
          <p:nvPr/>
        </p:nvSpPr>
        <p:spPr>
          <a:xfrm>
            <a:off x="1271588" y="2846388"/>
            <a:ext cx="9648825" cy="954087"/>
          </a:xfrm>
          <a:prstGeom prst="rect">
            <a:avLst/>
          </a:prstGeom>
          <a:noFill/>
        </p:spPr>
        <p:txBody>
          <a:bodyPr>
            <a:spAutoFit/>
          </a:bodyPr>
          <a:lstStyle/>
          <a:p>
            <a:pPr eaLnBrk="1" fontAlgn="auto" hangingPunct="1">
              <a:spcBef>
                <a:spcPts val="0"/>
              </a:spcBef>
              <a:spcAft>
                <a:spcPts val="0"/>
              </a:spcAft>
              <a:defRPr/>
            </a:pPr>
            <a:r>
              <a:rPr lang="es-PE" sz="2800" dirty="0">
                <a:solidFill>
                  <a:schemeClr val="tx1">
                    <a:lumMod val="95000"/>
                    <a:lumOff val="5000"/>
                  </a:schemeClr>
                </a:solidFill>
                <a:latin typeface="Neue Plak Light" panose="020B0404030202020204" pitchFamily="34" charset="77"/>
                <a:ea typeface="Neue Plak" charset="0"/>
                <a:cs typeface="Neue Plak" charset="0"/>
              </a:rPr>
              <a:t>¿Cómo aplico lo aprendido dentro de las actividades de mi carrera profesional?</a:t>
            </a:r>
          </a:p>
        </p:txBody>
      </p:sp>
      <p:sp>
        <p:nvSpPr>
          <p:cNvPr id="22531" name="Shape 123">
            <a:extLst>
              <a:ext uri="{FF2B5EF4-FFF2-40B4-BE49-F238E27FC236}">
                <a16:creationId xmlns:a16="http://schemas.microsoft.com/office/drawing/2014/main" id="{2045B0FC-2529-0C21-0424-3E05AE13D3DD}"/>
              </a:ext>
            </a:extLst>
          </p:cNvPr>
          <p:cNvSpPr>
            <a:spLocks noChangeArrowheads="1"/>
          </p:cNvSpPr>
          <p:nvPr/>
        </p:nvSpPr>
        <p:spPr bwMode="auto">
          <a:xfrm>
            <a:off x="1999533" y="365227"/>
            <a:ext cx="49323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a:latin typeface="Neue Plak SemiBold" pitchFamily="34" charset="0"/>
                <a:cs typeface="Neue Plak" pitchFamily="34" charset="0"/>
              </a:rPr>
              <a:t>Metacognición</a:t>
            </a:r>
            <a:endParaRPr lang="es-PE" altLang="es-PE" sz="4000" b="1">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5">
            <a:extLst>
              <a:ext uri="{FF2B5EF4-FFF2-40B4-BE49-F238E27FC236}">
                <a16:creationId xmlns:a16="http://schemas.microsoft.com/office/drawing/2014/main" id="{1EFE30F4-986A-520E-A6F1-AEC695A69439}"/>
              </a:ext>
            </a:extLst>
          </p:cNvPr>
          <p:cNvSpPr txBox="1"/>
          <p:nvPr/>
        </p:nvSpPr>
        <p:spPr>
          <a:xfrm>
            <a:off x="695325" y="2736850"/>
            <a:ext cx="10778920" cy="1384995"/>
          </a:xfrm>
          <a:prstGeom prst="rect">
            <a:avLst/>
          </a:prstGeom>
          <a:noFill/>
        </p:spPr>
        <p:txBody>
          <a:bodyPr wrap="square">
            <a:spAutoFit/>
          </a:bodyPr>
          <a:lstStyle/>
          <a:p>
            <a:pPr eaLnBrk="1" fontAlgn="auto" hangingPunct="1">
              <a:spcBef>
                <a:spcPts val="0"/>
              </a:spcBef>
              <a:spcAft>
                <a:spcPts val="0"/>
              </a:spcAft>
              <a:defRPr/>
            </a:pPr>
            <a:r>
              <a:rPr lang="es-PE" sz="2800" dirty="0"/>
              <a:t>Métodos Cuantitativos para los Negocios Anderson (página 297)</a:t>
            </a:r>
          </a:p>
          <a:p>
            <a:pPr eaLnBrk="1" fontAlgn="auto" hangingPunct="1">
              <a:spcBef>
                <a:spcPts val="0"/>
              </a:spcBef>
              <a:spcAft>
                <a:spcPts val="0"/>
              </a:spcAft>
              <a:defRPr/>
            </a:pPr>
            <a:r>
              <a:rPr lang="es-PE" sz="2800" dirty="0"/>
              <a:t>Imágenes y cuadros por Christian Nakasone</a:t>
            </a:r>
          </a:p>
          <a:p>
            <a:pPr eaLnBrk="1" fontAlgn="auto" hangingPunct="1">
              <a:spcBef>
                <a:spcPts val="0"/>
              </a:spcBef>
              <a:spcAft>
                <a:spcPts val="0"/>
              </a:spcAft>
              <a:defRPr/>
            </a:pPr>
            <a:endParaRPr lang="es-PE" sz="2800" dirty="0">
              <a:solidFill>
                <a:schemeClr val="tx1">
                  <a:lumMod val="95000"/>
                  <a:lumOff val="5000"/>
                </a:schemeClr>
              </a:solidFill>
              <a:latin typeface="Neue Plak Light" panose="020B0404030202020204" pitchFamily="34" charset="77"/>
              <a:ea typeface="Neue Plak" charset="0"/>
              <a:cs typeface="Neue Plak" charset="0"/>
            </a:endParaRPr>
          </a:p>
        </p:txBody>
      </p:sp>
      <p:sp>
        <p:nvSpPr>
          <p:cNvPr id="23555" name="Shape 123">
            <a:extLst>
              <a:ext uri="{FF2B5EF4-FFF2-40B4-BE49-F238E27FC236}">
                <a16:creationId xmlns:a16="http://schemas.microsoft.com/office/drawing/2014/main" id="{E4B536FD-715C-CC91-453D-993A0A631FCD}"/>
              </a:ext>
            </a:extLst>
          </p:cNvPr>
          <p:cNvSpPr>
            <a:spLocks noChangeArrowheads="1"/>
          </p:cNvSpPr>
          <p:nvPr/>
        </p:nvSpPr>
        <p:spPr bwMode="auto">
          <a:xfrm>
            <a:off x="2055352" y="322263"/>
            <a:ext cx="8770938"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3120" tIns="53120" rIns="53120" bIns="5312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s-ES" altLang="es-PE" sz="4000" b="1" dirty="0">
                <a:latin typeface="Neue Plak SemiBold" pitchFamily="34" charset="0"/>
                <a:cs typeface="Neue Plak" pitchFamily="34" charset="0"/>
              </a:rPr>
              <a:t>Referencia bibliográfica y de imágenes</a:t>
            </a:r>
            <a:endParaRPr lang="es-PE" altLang="es-PE" sz="4000" b="1" dirty="0">
              <a:latin typeface="Neue Plak SemiBold" pitchFamily="34" charset="0"/>
              <a:cs typeface="Neue Pla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4"/>
          <p:cNvSpPr txBox="1">
            <a:spLocks noGrp="1"/>
          </p:cNvSpPr>
          <p:nvPr>
            <p:ph type="title"/>
          </p:nvPr>
        </p:nvSpPr>
        <p:spPr>
          <a:xfrm>
            <a:off x="1974716" y="365126"/>
            <a:ext cx="7868024" cy="74416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Arial"/>
              <a:buNone/>
            </a:pPr>
            <a:endParaRPr/>
          </a:p>
        </p:txBody>
      </p:sp>
      <p:sp>
        <p:nvSpPr>
          <p:cNvPr id="119" name="Google Shape;119;p24"/>
          <p:cNvSpPr txBox="1">
            <a:spLocks noGrp="1"/>
          </p:cNvSpPr>
          <p:nvPr>
            <p:ph type="body" idx="1"/>
          </p:nvPr>
        </p:nvSpPr>
        <p:spPr>
          <a:xfrm>
            <a:off x="838200" y="1357744"/>
            <a:ext cx="10515600" cy="4819219"/>
          </a:xfrm>
          <a:prstGeom prst="rect">
            <a:avLst/>
          </a:prstGeom>
          <a:noFill/>
          <a:ln>
            <a:noFill/>
          </a:ln>
        </p:spPr>
        <p:txBody>
          <a:bodyPr spcFirstLastPara="1" wrap="square" lIns="91425" tIns="45700" rIns="91425" bIns="45700" anchor="t" anchorCtr="0">
            <a:normAutofit/>
          </a:bodyPr>
          <a:lstStyle/>
          <a:p>
            <a:pPr marL="457200" lvl="0" indent="-381000" algn="l" rtl="0">
              <a:lnSpc>
                <a:spcPct val="90000"/>
              </a:lnSpc>
              <a:spcBef>
                <a:spcPts val="1000"/>
              </a:spcBef>
              <a:spcAft>
                <a:spcPts val="0"/>
              </a:spcAft>
              <a:buSzPts val="2400"/>
              <a:buChar char="•"/>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1427</Words>
  <Application>Microsoft Office PowerPoint</Application>
  <PresentationFormat>Panorámica</PresentationFormat>
  <Paragraphs>130</Paragraphs>
  <Slides>22</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Neue Plak Light</vt:lpstr>
      <vt:lpstr>Neue Plak SemiBold</vt:lpstr>
      <vt:lpstr>Tema de Office</vt:lpstr>
      <vt:lpstr>Presentación de PowerPoint</vt:lpstr>
      <vt:lpstr>PROGRAMACIÓN LINEAL</vt:lpstr>
      <vt:lpstr>Presentación de PowerPoint</vt:lpstr>
      <vt:lpstr>Presentación de PowerPoint</vt:lpstr>
      <vt:lpstr>Presentación de PowerPoint</vt:lpstr>
      <vt:lpstr>ANÁLISIS DE SENSIBILIDAD</vt:lpstr>
      <vt:lpstr>Cambios:</vt:lpstr>
      <vt:lpstr>Ejemplo de aplicación:</vt:lpstr>
      <vt:lpstr>Presentación de PowerPoint</vt:lpstr>
      <vt:lpstr>MODELO ESTÁNDAR</vt:lpstr>
      <vt:lpstr>Construcción de la Tercera Tabla Simplex</vt:lpstr>
      <vt:lpstr>Interpretación de los Resultados</vt:lpstr>
      <vt:lpstr>EJEMPLO NRO 01:</vt:lpstr>
      <vt:lpstr>Ejemplo 02:</vt:lpstr>
      <vt:lpstr>Ejemplo 03:</vt:lpstr>
      <vt:lpstr>Ejemplo 04:</vt:lpstr>
      <vt:lpstr>Ejemplo 05:</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Nakasone Vega, Christian</cp:lastModifiedBy>
  <cp:revision>16</cp:revision>
  <dcterms:modified xsi:type="dcterms:W3CDTF">2024-02-27T19:37:25Z</dcterms:modified>
</cp:coreProperties>
</file>